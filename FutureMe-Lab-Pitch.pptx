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4241da55454e41" /><Relationship Type="http://schemas.openxmlformats.org/officeDocument/2006/relationships/extended-properties" Target="/docProps/app.xml" Id="R9c0c4ac4165a431c" /><Relationship Type="http://schemas.openxmlformats.org/officeDocument/2006/relationships/officeDocument" Target="/ppt/presentation.xml" Id="R3ce62d5860ec4069" /></Relationships>
</file>

<file path=ppt/presentation.xml><?xml version="1.0" encoding="utf-8"?>
<p:presentation xmlns:p="http://schemas.openxmlformats.org/presentationml/2006/main">
  <p:sldMasterIdLst>
    <p:sldMasterId xmlns:r="http://schemas.openxmlformats.org/officeDocument/2006/relationships" id="2147483648" r:id="R99a80346c9574706"/>
  </p:sldMasterIdLst>
  <p:notesMasterIdLst>
    <p:notesMasterId xmlns:r="http://schemas.openxmlformats.org/officeDocument/2006/relationships" r:id="Re1aa3dbab2f04877"/>
  </p:notesMasterIdLst>
  <p:sldIdLst>
    <p:sldId xmlns:r="http://schemas.openxmlformats.org/officeDocument/2006/relationships" id="256" r:id="R1f233e3363c94e51"/>
    <p:sldId xmlns:r="http://schemas.openxmlformats.org/officeDocument/2006/relationships" id="257" r:id="R7ec03e39287249a2"/>
    <p:sldId xmlns:r="http://schemas.openxmlformats.org/officeDocument/2006/relationships" id="258" r:id="R255aed7b0a614220"/>
    <p:sldId xmlns:r="http://schemas.openxmlformats.org/officeDocument/2006/relationships" id="259" r:id="R22cbf6df2b3547d1"/>
    <p:sldId xmlns:r="http://schemas.openxmlformats.org/officeDocument/2006/relationships" id="260" r:id="R6832bac83a484865"/>
    <p:sldId xmlns:r="http://schemas.openxmlformats.org/officeDocument/2006/relationships" id="261" r:id="R9a3ed9011ff046f1"/>
    <p:sldId xmlns:r="http://schemas.openxmlformats.org/officeDocument/2006/relationships" id="262" r:id="R2257cd8f3de444d3"/>
    <p:sldId xmlns:r="http://schemas.openxmlformats.org/officeDocument/2006/relationships" id="263" r:id="R4122b7fd19624fb4"/>
    <p:sldId xmlns:r="http://schemas.openxmlformats.org/officeDocument/2006/relationships" id="264" r:id="R9da4fbce9a7a4c10"/>
    <p:sldId xmlns:r="http://schemas.openxmlformats.org/officeDocument/2006/relationships" id="265" r:id="Rb2852bb4a4da4ce0"/>
    <p:sldId xmlns:r="http://schemas.openxmlformats.org/officeDocument/2006/relationships" id="266" r:id="R826708f20adb4e83"/>
    <p:sldId xmlns:r="http://schemas.openxmlformats.org/officeDocument/2006/relationships" id="267" r:id="R0bf8316abb8c4149"/>
    <p:sldId xmlns:r="http://schemas.openxmlformats.org/officeDocument/2006/relationships" id="268" r:id="Rb35afbe1ee7741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2f5b549adb41e3" /><Relationship Type="http://schemas.openxmlformats.org/officeDocument/2006/relationships/slideMaster" Target="/ppt/slideMasters/slideMaster1.xml" Id="R99a80346c9574706" /><Relationship Type="http://schemas.openxmlformats.org/officeDocument/2006/relationships/notesMaster" Target="/ppt/notesMasters/notesMaster1.xml" Id="Re1aa3dbab2f04877" /><Relationship Type="http://schemas.openxmlformats.org/officeDocument/2006/relationships/presProps" Target="/ppt/presProps.xml" Id="R3e155d9aa403492f" /><Relationship Type="http://schemas.openxmlformats.org/officeDocument/2006/relationships/tableStyles" Target="/ppt/tableStyles.xml" Id="R7f1b15c2fe064eec" /><Relationship Type="http://schemas.openxmlformats.org/officeDocument/2006/relationships/slide" Target="/ppt/slides/slide1.xml" Id="R1f233e3363c94e51" /><Relationship Type="http://schemas.openxmlformats.org/officeDocument/2006/relationships/slide" Target="/ppt/slides/slide2.xml" Id="R7ec03e39287249a2" /><Relationship Type="http://schemas.openxmlformats.org/officeDocument/2006/relationships/slide" Target="/ppt/slides/slide3.xml" Id="R255aed7b0a614220" /><Relationship Type="http://schemas.openxmlformats.org/officeDocument/2006/relationships/slide" Target="/ppt/slides/slide4.xml" Id="R22cbf6df2b3547d1" /><Relationship Type="http://schemas.openxmlformats.org/officeDocument/2006/relationships/slide" Target="/ppt/slides/slide5.xml" Id="R6832bac83a484865" /><Relationship Type="http://schemas.openxmlformats.org/officeDocument/2006/relationships/slide" Target="/ppt/slides/slide6.xml" Id="R9a3ed9011ff046f1" /><Relationship Type="http://schemas.openxmlformats.org/officeDocument/2006/relationships/slide" Target="/ppt/slides/slide7.xml" Id="R2257cd8f3de444d3" /><Relationship Type="http://schemas.openxmlformats.org/officeDocument/2006/relationships/slide" Target="/ppt/slides/slide8.xml" Id="R4122b7fd19624fb4" /><Relationship Type="http://schemas.openxmlformats.org/officeDocument/2006/relationships/slide" Target="/ppt/slides/slide9.xml" Id="R9da4fbce9a7a4c10" /><Relationship Type="http://schemas.openxmlformats.org/officeDocument/2006/relationships/slide" Target="/ppt/slides/slide10.xml" Id="Rb2852bb4a4da4ce0" /><Relationship Type="http://schemas.openxmlformats.org/officeDocument/2006/relationships/slide" Target="/ppt/slides/slide11.xml" Id="R826708f20adb4e83" /><Relationship Type="http://schemas.openxmlformats.org/officeDocument/2006/relationships/slide" Target="/ppt/slides/slide12.xml" Id="R0bf8316abb8c4149" /><Relationship Type="http://schemas.openxmlformats.org/officeDocument/2006/relationships/slide" Target="/ppt/slides/slide13.xml" Id="Rb35afbe1ee7741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d40130a3044f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4bb48bb1564483" /><Relationship Type="http://schemas.openxmlformats.org/officeDocument/2006/relationships/notesMaster" Target="/ppt/notesMasters/notesMaster1.xml" Id="R63720459c61141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74a18fd4eb4061" /><Relationship Type="http://schemas.openxmlformats.org/officeDocument/2006/relationships/notesMaster" Target="/ppt/notesMasters/notesMaster1.xml" Id="R4fb3a2db16864a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87375f351c43d7" /><Relationship Type="http://schemas.openxmlformats.org/officeDocument/2006/relationships/notesMaster" Target="/ppt/notesMasters/notesMaster1.xml" Id="Rb5a0e3c531244b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8c1398471e49c9" /><Relationship Type="http://schemas.openxmlformats.org/officeDocument/2006/relationships/notesMaster" Target="/ppt/notesMasters/notesMaster1.xml" Id="Re5080027bc2048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a0e6da44e54ca1" /><Relationship Type="http://schemas.openxmlformats.org/officeDocument/2006/relationships/notesMaster" Target="/ppt/notesMasters/notesMaster1.xml" Id="R1ccfc51b5e0d43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922831a9024934" /><Relationship Type="http://schemas.openxmlformats.org/officeDocument/2006/relationships/notesMaster" Target="/ppt/notesMasters/notesMaster1.xml" Id="Refbbf154c4b1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6e27d06614ece" /><Relationship Type="http://schemas.openxmlformats.org/officeDocument/2006/relationships/notesMaster" Target="/ppt/notesMasters/notesMaster1.xml" Id="Rd79a0f5edb1242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07ed941a9d4bb9" /><Relationship Type="http://schemas.openxmlformats.org/officeDocument/2006/relationships/notesMaster" Target="/ppt/notesMasters/notesMaster1.xml" Id="Rccc8260e9a154d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a1276a88484f1d" /><Relationship Type="http://schemas.openxmlformats.org/officeDocument/2006/relationships/notesMaster" Target="/ppt/notesMasters/notesMaster1.xml" Id="R4eb9b57c90dd4e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afbb4afedd4428" /><Relationship Type="http://schemas.openxmlformats.org/officeDocument/2006/relationships/notesMaster" Target="/ppt/notesMasters/notesMaster1.xml" Id="R8c16bcfe5a0e41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eab48b773041c5" /><Relationship Type="http://schemas.openxmlformats.org/officeDocument/2006/relationships/notesMaster" Target="/ppt/notesMasters/notesMaster1.xml" Id="R29577d5add0d42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5c0d8c825f4011" /><Relationship Type="http://schemas.openxmlformats.org/officeDocument/2006/relationships/notesMaster" Target="/ppt/notesMasters/notesMaster1.xml" Id="R8367bb9b19ba49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4662141b804779" /><Relationship Type="http://schemas.openxmlformats.org/officeDocument/2006/relationships/notesMaster" Target="/ppt/notesMasters/notesMaster1.xml" Id="R4157fe303c1d4f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Ask the audience to remember choosing a subject or career with little experience of the actual work. Introduce the product as a way for students to try manageable slices of that work.</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25 seconds. These are product hypotheses from the concept, not survey findings. Students may know a career title without understanding its daily activities. Explain why a small, reversible experiment can make the next conversation more useful.</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30 seconds. The questionnaire broadens curiosity. Missions provide observable choices and reflections. The profile distinguishes demonstrated behavior from self-reported interest. The next-step plan encourages further exploration.</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proof, 30 seconds. All four figures describe implemented features. Show the repository or live demo if available. The application uses local browser storage and does not need an AI subscription. The six interest areas exceed the three full missions.</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 overview, 30 seconds. Eligibility follows the supplied grade or age, not both. Labels describe authored learning difficulty rather than professional qualification. Each mission offers a brief, evidence, two choices, reasoning, enjoyment and feedback.</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story, 40 seconds. Alex and Sam are illustrative personas, not actual measured students. Both aspire to software engineering. The existing demo shows differing observed approaches and follow-up activities. Full adaptive mission generation is a roadmap item.</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Feedback example, 30 seconds. This quote paraphrases implemented feedback for a correct software mission answer and verification choice. Explain the difference between a reported preference and a demonstrated task behavior. Rubric feedback is authored, not a live AI assessment.</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Differentiation, 25 seconds. Avoid claiming that the product replaces counseling or predicts career success. The questionnaire supports discovery, missions add task evidence, and reflection helps students compare enjoyment with performance. No competitive efficacy study has been conducted.</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and scope, 25 seconds. The MVP stores progress locally and uses transparent authored rules. Server-side AI, account synchronization and school dashboards are not implemented. Any AI rollout should preserve source evidence and allow educator review.</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hypothesis, 30 seconds. These are proposed segments and channels, not existing customers or revenue. Start with educators who can supervise an exploration session. Test willingness to pay before committing to pricing or a revenue forecast.</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proposal, 30 seconds. Targets are explicitly proposed and no results are claimed. Completion uses students who start mission one as the denominator. Voluntary second mission uses mission-one completers. Feedback agreement uses respondents who received feedback. Review qualitative comments with an educator.</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25 seconds. The MVP is implemented. Pilot and expansion milestones are proposed and depend on student and educator feedback. Prioritize mission quality before increasing the career catalog or introducing AI feedback.</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25 seconds. The proposed ask is access to pilot partners and students, not funding or claimed commitments. Invite schools to test the product and return concrete observations. Close with the demo link or repository. Total delivery time is approximately six minutes.</a:t>
            </a:r>
          </a:p>
          <a:p xmlns:a="http://schemas.openxmlformats.org/drawingml/2006/main">
            <a:r>
              <a:t/>
            </a:r>
          </a:p>
          <a:p xmlns:a="http://schemas.openxmlformats.org/drawingml/2006/main">
            <a:r>
              <a:t>Product source: https://github.com/dpjegankumar/futurelab. Facts refer to the current MVP. Pilot targets and commercial plans are proposals,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228c471d1d49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fd08d009ce45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e9f87215b44e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c1560a0a9f4f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880722b93c44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d634722de249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869979-1BFD-47A6-B249-C7C2CBF327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43CCC9-9F2B-43F0-8F54-EB889EA218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B953DE-698C-481B-B210-51E0800D0F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55ADD7-ABE1-4CCF-81FD-23250CCD89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679C56-4490-4C93-8EA7-DFA667498C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4383DC-A1FF-4318-90F3-CB3541893C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19DC57-B4C9-4F6D-A1FC-1A754CF867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A4E522-5A35-4F3E-91CE-2D269F0732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5CBE53-05F6-469C-991F-371814CEB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9445F4-DCF6-412D-AE45-2B8AD047B0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983a8a6b034e51" /><Relationship Type="http://schemas.openxmlformats.org/officeDocument/2006/relationships/slideLayout" Target="/ppt/slideLayouts/slideLayout1.xml" Id="Rcc4fb861c29b4a11" /><Relationship Type="http://schemas.openxmlformats.org/officeDocument/2006/relationships/slideLayout" Target="/ppt/slideLayouts/slideLayout2.xml" Id="Re9a226fc49f84f53" /><Relationship Type="http://schemas.openxmlformats.org/officeDocument/2006/relationships/slideLayout" Target="/ppt/slideLayouts/slideLayout3.xml" Id="Re9e6672785b34bf4" /><Relationship Type="http://schemas.openxmlformats.org/officeDocument/2006/relationships/slideLayout" Target="/ppt/slideLayouts/slideLayout4.xml" Id="R7159caf8b59e451a" /><Relationship Type="http://schemas.openxmlformats.org/officeDocument/2006/relationships/slideLayout" Target="/ppt/slideLayouts/slideLayout5.xml" Id="R965742b7c6ec4b23" /><Relationship Type="http://schemas.openxmlformats.org/officeDocument/2006/relationships/slideLayout" Target="/ppt/slideLayouts/slideLayout6.xml" Id="R0e7335e3cb0f40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4fb861c29b4a11"/>
    <p:sldLayoutId xmlns:r="http://schemas.openxmlformats.org/officeDocument/2006/relationships" id="2147483650" r:id="Re9a226fc49f84f53"/>
    <p:sldLayoutId xmlns:r="http://schemas.openxmlformats.org/officeDocument/2006/relationships" id="2147483651" r:id="Re9e6672785b34bf4"/>
    <p:sldLayoutId xmlns:r="http://schemas.openxmlformats.org/officeDocument/2006/relationships" id="2147483652" r:id="R7159caf8b59e451a"/>
    <p:sldLayoutId xmlns:r="http://schemas.openxmlformats.org/officeDocument/2006/relationships" id="2147483653" r:id="R965742b7c6ec4b23"/>
    <p:sldLayoutId xmlns:r="http://schemas.openxmlformats.org/officeDocument/2006/relationships" id="2147483654" r:id="R0e7335e3cb0f40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469e9b7f4c4e86" /><Relationship Type="http://schemas.openxmlformats.org/officeDocument/2006/relationships/image" Target="/ppt/media/image.png" Id="R893272f4e61749a1" /><Relationship Type="http://schemas.openxmlformats.org/officeDocument/2006/relationships/notesSlide" Target="/ppt/notesSlides/notesSlide1.xml" Id="R3ab7b4f847d543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baf35f31f94900" /><Relationship Type="http://schemas.openxmlformats.org/officeDocument/2006/relationships/notesSlide" Target="/ppt/notesSlides/notesSlide2.xml" Id="R0410bd92c68346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71f008a129499d" /><Relationship Type="http://schemas.openxmlformats.org/officeDocument/2006/relationships/notesSlide" Target="/ppt/notesSlides/notesSlide3.xml" Id="R4d50d500a17347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7894fc99aa4a4b" /><Relationship Type="http://schemas.openxmlformats.org/officeDocument/2006/relationships/notesSlide" Target="/ppt/notesSlides/notesSlide4.xml" Id="Reb12f9cf2f8341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34bd471f544a6a" /><Relationship Type="http://schemas.openxmlformats.org/officeDocument/2006/relationships/notesSlide" Target="/ppt/notesSlides/notesSlide5.xml" Id="R15e66568d8fc4b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9bf583e3934a28" /><Relationship Type="http://schemas.openxmlformats.org/officeDocument/2006/relationships/notesSlide" Target="/ppt/notesSlides/notesSlide6.xml" Id="Rdb21d9f512d643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f7dccce8754297" /><Relationship Type="http://schemas.openxmlformats.org/officeDocument/2006/relationships/notesSlide" Target="/ppt/notesSlides/notesSlide7.xml" Id="R796f80fd92154d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9ba358103e4bfd" /><Relationship Type="http://schemas.openxmlformats.org/officeDocument/2006/relationships/notesSlide" Target="/ppt/notesSlides/notesSlide8.xml" Id="R75851d4fded64b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643d93ccbdd4e10" /><Relationship Type="http://schemas.openxmlformats.org/officeDocument/2006/relationships/notesSlide" Target="/ppt/notesSlides/notesSlide9.xml" Id="R52a5cce589cf4d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1e3017f64c4758" /><Relationship Type="http://schemas.openxmlformats.org/officeDocument/2006/relationships/notesSlide" Target="/ppt/notesSlides/notesSlide10.xml" Id="R18c78216c64e44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ae80ee0eab4218" /><Relationship Type="http://schemas.openxmlformats.org/officeDocument/2006/relationships/notesSlide" Target="/ppt/notesSlides/notesSlide11.xml" Id="R2bd90b7c29cb44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bd63971e184f80" /><Relationship Type="http://schemas.openxmlformats.org/officeDocument/2006/relationships/notesSlide" Target="/ppt/notesSlides/notesSlide12.xml" Id="R9e848178da814d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1ab7724ca94935" /><Relationship Type="http://schemas.openxmlformats.org/officeDocument/2006/relationships/notesSlide" Target="/ppt/notesSlides/notesSlide13.xml" Id="R5441043dfc8e4ffc" /></Relationships>
</file>

<file path=ppt/slides/slide1.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5D0920-C54F-4475-B6F4-18A8C98279C4}"/>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FutureMe Lab</a:t>
            </a:r>
          </a:p>
        </p:txBody>
      </p:sp>
      <p:sp>
        <p:nvSpPr>
          <p:cNvPr id="2" name="">
            <a:extLst xmlns:a="http://schemas.openxmlformats.org/drawingml/2006/main">
              <a:ext uri="{FF2B5EF4-FFF2-40B4-BE49-F238E27FC236}">
                <a16:creationId xmlns:a16="http://schemas.microsoft.com/office/drawing/2014/main" id="{ADFB946D-1260-4B00-B574-6B3B7447B21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310D19C7-4F97-4539-A303-C145D37168D4}"/>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ED8A450-50A5-4A55-B070-926EEED063B8}"/>
              </a:ext>
            </a:extLst>
          </p:cNvPr>
          <p:cNvSpPr>
            <a:spLocks xmlns:a="http://schemas.openxmlformats.org/drawingml/2006/main" noGrp="1"/>
          </p:cNvSpPr>
          <p:nvPr/>
        </p:nvSpPr>
        <p:spPr>
          <a:xfrm xmlns:a="http://schemas.openxmlformats.org/drawingml/2006/main">
            <a:off x="609600" y="1905000"/>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294E3E"/>
                </a:solidFill>
                <a:latin typeface="Arial"/>
                <a:ea typeface="Arial"/>
                <a:cs typeface="Arial"/>
              </a:defRPr>
            </a:defPPr>
            <a:lvl1pPr>
              <a:defRPr sz="4950" b="1">
                <a:solidFill>
                  <a:srgbClr val="294E3E"/>
                </a:solidFill>
                <a:latin typeface="Arial"/>
                <a:ea typeface="Arial"/>
                <a:cs typeface="Arial"/>
              </a:defRPr>
            </a:lvl1pPr>
            <a:lvl2pPr>
              <a:defRPr sz="4950" b="1">
                <a:solidFill>
                  <a:srgbClr val="294E3E"/>
                </a:solidFill>
                <a:latin typeface="Arial"/>
                <a:ea typeface="Arial"/>
                <a:cs typeface="Arial"/>
              </a:defRPr>
            </a:lvl2pPr>
            <a:lvl3pPr>
              <a:defRPr sz="4950" b="1">
                <a:solidFill>
                  <a:srgbClr val="294E3E"/>
                </a:solidFill>
                <a:latin typeface="Arial"/>
                <a:ea typeface="Arial"/>
                <a:cs typeface="Arial"/>
              </a:defRPr>
            </a:lvl3pPr>
            <a:lvl4pPr>
              <a:defRPr sz="4950" b="1">
                <a:solidFill>
                  <a:srgbClr val="294E3E"/>
                </a:solidFill>
                <a:latin typeface="Arial"/>
                <a:ea typeface="Arial"/>
                <a:cs typeface="Arial"/>
              </a:defRPr>
            </a:lvl4pPr>
            <a:lvl5pPr>
              <a:defRPr sz="4950" b="1">
                <a:solidFill>
                  <a:srgbClr val="294E3E"/>
                </a:solidFill>
                <a:latin typeface="Arial"/>
                <a:ea typeface="Arial"/>
                <a:cs typeface="Arial"/>
              </a:defRPr>
            </a:lvl5pPr>
            <a:lvl6pPr>
              <a:defRPr sz="4950" b="1">
                <a:solidFill>
                  <a:srgbClr val="294E3E"/>
                </a:solidFill>
                <a:latin typeface="Arial"/>
                <a:ea typeface="Arial"/>
                <a:cs typeface="Arial"/>
              </a:defRPr>
            </a:lvl6pPr>
            <a:lvl7pPr>
              <a:defRPr sz="4950" b="1">
                <a:solidFill>
                  <a:srgbClr val="294E3E"/>
                </a:solidFill>
                <a:latin typeface="Arial"/>
                <a:ea typeface="Arial"/>
                <a:cs typeface="Arial"/>
              </a:defRPr>
            </a:lvl7pPr>
            <a:lvl8pPr>
              <a:defRPr sz="4950" b="1">
                <a:solidFill>
                  <a:srgbClr val="294E3E"/>
                </a:solidFill>
                <a:latin typeface="Arial"/>
                <a:ea typeface="Arial"/>
                <a:cs typeface="Arial"/>
              </a:defRPr>
            </a:lvl8pPr>
            <a:lvl9pPr>
              <a:defRPr sz="4950" b="1">
                <a:solidFill>
                  <a:srgbClr val="294E3E"/>
                </a:solidFill>
                <a:latin typeface="Arial"/>
                <a:ea typeface="Arial"/>
                <a:cs typeface="Arial"/>
              </a:defRPr>
            </a:lvl9pPr>
          </a:lstStyle>
          <a:p xmlns:a="http://schemas.openxmlformats.org/drawingml/2006/main">
            <a:pPr>
              <a:defRPr sz="4950" b="1">
                <a:solidFill>
                  <a:srgbClr val="294E3E"/>
                </a:solidFill>
                <a:latin typeface="Arial"/>
                <a:ea typeface="Arial"/>
                <a:cs typeface="Arial"/>
              </a:defRPr>
            </a:pPr>
            <a:r>
              <a:rPr sz="4950" b="1">
                <a:solidFill>
                  <a:srgbClr val="294E3E"/>
                </a:solidFill>
                <a:latin typeface="Arial"/>
                <a:ea typeface="Arial"/>
                <a:cs typeface="Arial"/>
              </a:rPr>
              <a:t>Test-drive a career</a:t>
            </a:r>
          </a:p>
          <a:p xmlns:a="http://schemas.openxmlformats.org/drawingml/2006/main">
            <a:pPr>
              <a:defRPr sz="4950" b="1">
                <a:solidFill>
                  <a:srgbClr val="294E3E"/>
                </a:solidFill>
                <a:latin typeface="Arial"/>
                <a:ea typeface="Arial"/>
                <a:cs typeface="Arial"/>
              </a:defRPr>
            </a:pPr>
            <a:r>
              <a:rPr sz="4950" b="1">
                <a:solidFill>
                  <a:srgbClr val="294E3E"/>
                </a:solidFill>
                <a:latin typeface="Arial"/>
                <a:ea typeface="Arial"/>
                <a:cs typeface="Arial"/>
              </a:rPr>
              <a:t>before choosing it</a:t>
            </a:r>
          </a:p>
        </p:txBody>
      </p:sp>
      <p:sp>
        <p:nvSpPr>
          <p:cNvPr id="5" name="">
            <a:extLst xmlns:a="http://schemas.openxmlformats.org/drawingml/2006/main">
              <a:ext uri="{FF2B5EF4-FFF2-40B4-BE49-F238E27FC236}">
                <a16:creationId xmlns:a16="http://schemas.microsoft.com/office/drawing/2014/main" id="{39452AD5-3762-4A03-BCE4-4F4356F104A1}"/>
              </a:ext>
            </a:extLst>
          </p:cNvPr>
          <p:cNvSpPr>
            <a:spLocks xmlns:a="http://schemas.openxmlformats.org/drawingml/2006/main" noGrp="1"/>
          </p:cNvSpPr>
          <p:nvPr/>
        </p:nvSpPr>
        <p:spPr>
          <a:xfrm xmlns:a="http://schemas.openxmlformats.org/drawingml/2006/main">
            <a:off x="609600" y="42100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657365"/>
                </a:solidFill>
                <a:latin typeface="Arial"/>
                <a:ea typeface="Arial"/>
                <a:cs typeface="Arial"/>
              </a:defRPr>
            </a:defPPr>
            <a:lvl1pPr>
              <a:defRPr sz="2100" b="0">
                <a:solidFill>
                  <a:srgbClr val="657365"/>
                </a:solidFill>
                <a:latin typeface="Arial"/>
                <a:ea typeface="Arial"/>
                <a:cs typeface="Arial"/>
              </a:defRPr>
            </a:lvl1pPr>
            <a:lvl2pPr>
              <a:defRPr sz="2100" b="0">
                <a:solidFill>
                  <a:srgbClr val="657365"/>
                </a:solidFill>
                <a:latin typeface="Arial"/>
                <a:ea typeface="Arial"/>
                <a:cs typeface="Arial"/>
              </a:defRPr>
            </a:lvl2pPr>
            <a:lvl3pPr>
              <a:defRPr sz="2100" b="0">
                <a:solidFill>
                  <a:srgbClr val="657365"/>
                </a:solidFill>
                <a:latin typeface="Arial"/>
                <a:ea typeface="Arial"/>
                <a:cs typeface="Arial"/>
              </a:defRPr>
            </a:lvl3pPr>
            <a:lvl4pPr>
              <a:defRPr sz="2100" b="0">
                <a:solidFill>
                  <a:srgbClr val="657365"/>
                </a:solidFill>
                <a:latin typeface="Arial"/>
                <a:ea typeface="Arial"/>
                <a:cs typeface="Arial"/>
              </a:defRPr>
            </a:lvl4pPr>
            <a:lvl5pPr>
              <a:defRPr sz="2100" b="0">
                <a:solidFill>
                  <a:srgbClr val="657365"/>
                </a:solidFill>
                <a:latin typeface="Arial"/>
                <a:ea typeface="Arial"/>
                <a:cs typeface="Arial"/>
              </a:defRPr>
            </a:lvl5pPr>
            <a:lvl6pPr>
              <a:defRPr sz="2100" b="0">
                <a:solidFill>
                  <a:srgbClr val="657365"/>
                </a:solidFill>
                <a:latin typeface="Arial"/>
                <a:ea typeface="Arial"/>
                <a:cs typeface="Arial"/>
              </a:defRPr>
            </a:lvl6pPr>
            <a:lvl7pPr>
              <a:defRPr sz="2100" b="0">
                <a:solidFill>
                  <a:srgbClr val="657365"/>
                </a:solidFill>
                <a:latin typeface="Arial"/>
                <a:ea typeface="Arial"/>
                <a:cs typeface="Arial"/>
              </a:defRPr>
            </a:lvl7pPr>
            <a:lvl8pPr>
              <a:defRPr sz="2100" b="0">
                <a:solidFill>
                  <a:srgbClr val="657365"/>
                </a:solidFill>
                <a:latin typeface="Arial"/>
                <a:ea typeface="Arial"/>
                <a:cs typeface="Arial"/>
              </a:defRPr>
            </a:lvl8pPr>
            <a:lvl9pPr>
              <a:defRPr sz="2100" b="0">
                <a:solidFill>
                  <a:srgbClr val="657365"/>
                </a:solidFill>
                <a:latin typeface="Arial"/>
                <a:ea typeface="Arial"/>
                <a:cs typeface="Arial"/>
              </a:defRPr>
            </a:lvl9pPr>
          </a:lstStyle>
          <a:p xmlns:a="http://schemas.openxmlformats.org/drawingml/2006/main">
            <a:pPr>
              <a:defRPr sz="2100" b="0">
                <a:solidFill>
                  <a:srgbClr val="657365"/>
                </a:solidFill>
                <a:latin typeface="Arial"/>
                <a:ea typeface="Arial"/>
                <a:cs typeface="Arial"/>
              </a:defRPr>
            </a:pPr>
            <a:r>
              <a:rPr sz="2100" b="0">
                <a:solidFill>
                  <a:srgbClr val="657365"/>
                </a:solidFill>
                <a:latin typeface="Arial"/>
                <a:ea typeface="Arial"/>
                <a:cs typeface="Arial"/>
              </a:rPr>
              <a:t>A career discovery lab for students</a:t>
            </a:r>
          </a:p>
        </p:txBody>
      </p:sp>
      <p:sp>
        <p:nvSpPr>
          <p:cNvPr id="6" name="">
            <a:extLst xmlns:a="http://schemas.openxmlformats.org/drawingml/2006/main">
              <a:ext uri="{FF2B5EF4-FFF2-40B4-BE49-F238E27FC236}">
                <a16:creationId xmlns:a16="http://schemas.microsoft.com/office/drawing/2014/main" id="{BE6C6ED0-811D-48AE-9F3E-AED7A00637D9}"/>
              </a:ext>
            </a:extLst>
          </p:cNvPr>
          <p:cNvSpPr>
            <a:spLocks xmlns:a="http://schemas.openxmlformats.org/drawingml/2006/main" noGrp="1"/>
          </p:cNvSpPr>
          <p:nvPr/>
        </p:nvSpPr>
        <p:spPr>
          <a:xfrm xmlns:a="http://schemas.openxmlformats.org/drawingml/2006/main">
            <a:off x="609600" y="53816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B9754B"/>
                </a:solidFill>
                <a:latin typeface="Arial"/>
                <a:ea typeface="Arial"/>
                <a:cs typeface="Arial"/>
              </a:defRPr>
            </a:defPPr>
            <a:lvl1pPr>
              <a:defRPr sz="1500" b="0">
                <a:solidFill>
                  <a:srgbClr val="B9754B"/>
                </a:solidFill>
                <a:latin typeface="Arial"/>
                <a:ea typeface="Arial"/>
                <a:cs typeface="Arial"/>
              </a:defRPr>
            </a:lvl1pPr>
            <a:lvl2pPr>
              <a:defRPr sz="1500" b="0">
                <a:solidFill>
                  <a:srgbClr val="B9754B"/>
                </a:solidFill>
                <a:latin typeface="Arial"/>
                <a:ea typeface="Arial"/>
                <a:cs typeface="Arial"/>
              </a:defRPr>
            </a:lvl2pPr>
            <a:lvl3pPr>
              <a:defRPr sz="1500" b="0">
                <a:solidFill>
                  <a:srgbClr val="B9754B"/>
                </a:solidFill>
                <a:latin typeface="Arial"/>
                <a:ea typeface="Arial"/>
                <a:cs typeface="Arial"/>
              </a:defRPr>
            </a:lvl3pPr>
            <a:lvl4pPr>
              <a:defRPr sz="1500" b="0">
                <a:solidFill>
                  <a:srgbClr val="B9754B"/>
                </a:solidFill>
                <a:latin typeface="Arial"/>
                <a:ea typeface="Arial"/>
                <a:cs typeface="Arial"/>
              </a:defRPr>
            </a:lvl4pPr>
            <a:lvl5pPr>
              <a:defRPr sz="1500" b="0">
                <a:solidFill>
                  <a:srgbClr val="B9754B"/>
                </a:solidFill>
                <a:latin typeface="Arial"/>
                <a:ea typeface="Arial"/>
                <a:cs typeface="Arial"/>
              </a:defRPr>
            </a:lvl5pPr>
            <a:lvl6pPr>
              <a:defRPr sz="1500" b="0">
                <a:solidFill>
                  <a:srgbClr val="B9754B"/>
                </a:solidFill>
                <a:latin typeface="Arial"/>
                <a:ea typeface="Arial"/>
                <a:cs typeface="Arial"/>
              </a:defRPr>
            </a:lvl6pPr>
            <a:lvl7pPr>
              <a:defRPr sz="1500" b="0">
                <a:solidFill>
                  <a:srgbClr val="B9754B"/>
                </a:solidFill>
                <a:latin typeface="Arial"/>
                <a:ea typeface="Arial"/>
                <a:cs typeface="Arial"/>
              </a:defRPr>
            </a:lvl7pPr>
            <a:lvl8pPr>
              <a:defRPr sz="1500" b="0">
                <a:solidFill>
                  <a:srgbClr val="B9754B"/>
                </a:solidFill>
                <a:latin typeface="Arial"/>
                <a:ea typeface="Arial"/>
                <a:cs typeface="Arial"/>
              </a:defRPr>
            </a:lvl8pPr>
            <a:lvl9pPr>
              <a:defRPr sz="1500" b="0">
                <a:solidFill>
                  <a:srgbClr val="B9754B"/>
                </a:solidFill>
                <a:latin typeface="Arial"/>
                <a:ea typeface="Arial"/>
                <a:cs typeface="Arial"/>
              </a:defRPr>
            </a:lvl9pPr>
          </a:lstStyle>
          <a:p xmlns:a="http://schemas.openxmlformats.org/drawingml/2006/main">
            <a:pPr>
              <a:defRPr sz="1500" b="0">
                <a:solidFill>
                  <a:srgbClr val="B9754B"/>
                </a:solidFill>
                <a:latin typeface="Arial"/>
                <a:ea typeface="Arial"/>
                <a:cs typeface="Arial"/>
              </a:defRPr>
            </a:pPr>
            <a:r>
              <a:rPr sz="1500" b="0">
                <a:solidFill>
                  <a:srgbClr val="B9754B"/>
                </a:solidFill>
                <a:latin typeface="Arial"/>
                <a:ea typeface="Arial"/>
                <a:cs typeface="Arial"/>
              </a:rPr>
              <a:t>Product pitch and school pilot proposal</a:t>
            </a:r>
          </a:p>
        </p:txBody>
      </p:sp>
      <p:pic>
        <p:nvPicPr>
          <p:cNvPr id="7" name="">
            <a:extLst xmlns:a="http://schemas.openxmlformats.org/drawingml/2006/main">
              <a:ext uri="{FF2B5EF4-FFF2-40B4-BE49-F238E27FC236}">
                <a16:creationId xmlns:a16="http://schemas.microsoft.com/office/drawing/2014/main" id="{7C6E89D1-5194-4EA7-A66E-B4F8AFF83E16}"/>
              </a:ext>
            </a:extLst>
          </p:cNvPr>
          <p:cNvPicPr>
            <a:picLocks xmlns:a="http://schemas.openxmlformats.org/drawingml/2006/main" noChangeAspect="1"/>
          </p:cNvPicPr>
          <p:nvPr/>
        </p:nvPicPr>
        <p:blipFill>
          <a:blip xmlns:r="http://schemas.openxmlformats.org/officeDocument/2006/relationships" xmlns:a="http://schemas.openxmlformats.org/drawingml/2006/main" r:embed="R893272f4e61749a1"/>
          <a:stretch xmlns:a="http://schemas.openxmlformats.org/drawingml/2006/main"/>
        </p:blipFill>
        <p:spPr>
          <a:xfrm xmlns:a="http://schemas.openxmlformats.org/drawingml/2006/main">
            <a:off x="7048500" y="2016125"/>
            <a:ext cx="4524375" cy="3016250"/>
          </a:xfrm>
          <a:prstGeom xmlns:a="http://schemas.openxmlformats.org/drawingml/2006/main" prst="rect">
            <a:avLst/>
          </a:prstGeom>
        </p:spPr>
      </p:pic>
    </p:spTree>
    <p:extLst>
      <p:ext uri="{BB962C8B-B14F-4D97-AF65-F5344CB8AC3E}">
        <p14:creationId xmlns:p14="http://schemas.microsoft.com/office/powerpoint/2010/main" val="807881020"/>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061504-88BE-4977-A70B-08BD038171BD}"/>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The career choice gap</a:t>
            </a:r>
          </a:p>
        </p:txBody>
      </p:sp>
      <p:sp>
        <p:nvSpPr>
          <p:cNvPr id="2" name="">
            <a:extLst xmlns:a="http://schemas.openxmlformats.org/drawingml/2006/main">
              <a:ext uri="{FF2B5EF4-FFF2-40B4-BE49-F238E27FC236}">
                <a16:creationId xmlns:a16="http://schemas.microsoft.com/office/drawing/2014/main" id="{5CD194A6-FF88-4C28-9114-1BCB5CB0F8C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E7B40C2F-9716-4623-B963-8A069D720078}"/>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7F6F888-35DD-407D-A407-9660CD328A9F}"/>
              </a:ext>
            </a:extLst>
          </p:cNvPr>
          <p:cNvSpPr>
            <a:spLocks xmlns:a="http://schemas.openxmlformats.org/drawingml/2006/main" noGrp="1"/>
          </p:cNvSpPr>
          <p:nvPr/>
        </p:nvSpPr>
        <p:spPr>
          <a:xfrm xmlns:a="http://schemas.openxmlformats.org/drawingml/2006/main">
            <a:off x="609600" y="1857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294E3E"/>
                </a:solidFill>
                <a:latin typeface="Arial"/>
                <a:ea typeface="Arial"/>
                <a:cs typeface="Arial"/>
              </a:defRPr>
            </a:defPPr>
            <a:lvl1pPr>
              <a:defRPr sz="4050" b="1">
                <a:solidFill>
                  <a:srgbClr val="294E3E"/>
                </a:solidFill>
                <a:latin typeface="Arial"/>
                <a:ea typeface="Arial"/>
                <a:cs typeface="Arial"/>
              </a:defRPr>
            </a:lvl1pPr>
            <a:lvl2pPr>
              <a:defRPr sz="4050" b="1">
                <a:solidFill>
                  <a:srgbClr val="294E3E"/>
                </a:solidFill>
                <a:latin typeface="Arial"/>
                <a:ea typeface="Arial"/>
                <a:cs typeface="Arial"/>
              </a:defRPr>
            </a:lvl2pPr>
            <a:lvl3pPr>
              <a:defRPr sz="4050" b="1">
                <a:solidFill>
                  <a:srgbClr val="294E3E"/>
                </a:solidFill>
                <a:latin typeface="Arial"/>
                <a:ea typeface="Arial"/>
                <a:cs typeface="Arial"/>
              </a:defRPr>
            </a:lvl3pPr>
            <a:lvl4pPr>
              <a:defRPr sz="4050" b="1">
                <a:solidFill>
                  <a:srgbClr val="294E3E"/>
                </a:solidFill>
                <a:latin typeface="Arial"/>
                <a:ea typeface="Arial"/>
                <a:cs typeface="Arial"/>
              </a:defRPr>
            </a:lvl4pPr>
            <a:lvl5pPr>
              <a:defRPr sz="4050" b="1">
                <a:solidFill>
                  <a:srgbClr val="294E3E"/>
                </a:solidFill>
                <a:latin typeface="Arial"/>
                <a:ea typeface="Arial"/>
                <a:cs typeface="Arial"/>
              </a:defRPr>
            </a:lvl5pPr>
            <a:lvl6pPr>
              <a:defRPr sz="4050" b="1">
                <a:solidFill>
                  <a:srgbClr val="294E3E"/>
                </a:solidFill>
                <a:latin typeface="Arial"/>
                <a:ea typeface="Arial"/>
                <a:cs typeface="Arial"/>
              </a:defRPr>
            </a:lvl6pPr>
            <a:lvl7pPr>
              <a:defRPr sz="4050" b="1">
                <a:solidFill>
                  <a:srgbClr val="294E3E"/>
                </a:solidFill>
                <a:latin typeface="Arial"/>
                <a:ea typeface="Arial"/>
                <a:cs typeface="Arial"/>
              </a:defRPr>
            </a:lvl7pPr>
            <a:lvl8pPr>
              <a:defRPr sz="4050" b="1">
                <a:solidFill>
                  <a:srgbClr val="294E3E"/>
                </a:solidFill>
                <a:latin typeface="Arial"/>
                <a:ea typeface="Arial"/>
                <a:cs typeface="Arial"/>
              </a:defRPr>
            </a:lvl8pPr>
            <a:lvl9pPr>
              <a:defRPr sz="4050" b="1">
                <a:solidFill>
                  <a:srgbClr val="294E3E"/>
                </a:solidFill>
                <a:latin typeface="Arial"/>
                <a:ea typeface="Arial"/>
                <a:cs typeface="Arial"/>
              </a:defRPr>
            </a:lvl9pPr>
          </a:lstStyle>
          <a:p xmlns:a="http://schemas.openxmlformats.org/drawingml/2006/main">
            <a:pPr>
              <a:defRPr sz="4050" b="1">
                <a:solidFill>
                  <a:srgbClr val="294E3E"/>
                </a:solidFill>
                <a:latin typeface="Arial"/>
                <a:ea typeface="Arial"/>
                <a:cs typeface="Arial"/>
              </a:defRPr>
            </a:pPr>
            <a:r>
              <a:rPr sz="4050" b="1">
                <a:solidFill>
                  <a:srgbClr val="294E3E"/>
                </a:solidFill>
                <a:latin typeface="Arial"/>
                <a:ea typeface="Arial"/>
                <a:cs typeface="Arial"/>
              </a:rPr>
              <a:t>“I want to be a software engineer.”</a:t>
            </a:r>
          </a:p>
        </p:txBody>
      </p:sp>
      <p:sp>
        <p:nvSpPr>
          <p:cNvPr id="5" name="">
            <a:extLst xmlns:a="http://schemas.openxmlformats.org/drawingml/2006/main">
              <a:ext uri="{FF2B5EF4-FFF2-40B4-BE49-F238E27FC236}">
                <a16:creationId xmlns:a16="http://schemas.microsoft.com/office/drawing/2014/main" id="{2D0C569F-8987-49C6-83F5-244103C2E601}"/>
              </a:ext>
            </a:extLst>
          </p:cNvPr>
          <p:cNvSpPr>
            <a:spLocks xmlns:a="http://schemas.openxmlformats.org/drawingml/2006/main" noGrp="1"/>
          </p:cNvSpPr>
          <p:nvPr/>
        </p:nvSpPr>
        <p:spPr>
          <a:xfrm xmlns:a="http://schemas.openxmlformats.org/drawingml/2006/main">
            <a:off x="609600" y="3048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B9754B"/>
                </a:solidFill>
                <a:latin typeface="Arial"/>
                <a:ea typeface="Arial"/>
                <a:cs typeface="Arial"/>
              </a:defRPr>
            </a:defPPr>
            <a:lvl1pPr>
              <a:defRPr sz="2625" b="0">
                <a:solidFill>
                  <a:srgbClr val="B9754B"/>
                </a:solidFill>
                <a:latin typeface="Arial"/>
                <a:ea typeface="Arial"/>
                <a:cs typeface="Arial"/>
              </a:defRPr>
            </a:lvl1pPr>
            <a:lvl2pPr>
              <a:defRPr sz="2625" b="0">
                <a:solidFill>
                  <a:srgbClr val="B9754B"/>
                </a:solidFill>
                <a:latin typeface="Arial"/>
                <a:ea typeface="Arial"/>
                <a:cs typeface="Arial"/>
              </a:defRPr>
            </a:lvl2pPr>
            <a:lvl3pPr>
              <a:defRPr sz="2625" b="0">
                <a:solidFill>
                  <a:srgbClr val="B9754B"/>
                </a:solidFill>
                <a:latin typeface="Arial"/>
                <a:ea typeface="Arial"/>
                <a:cs typeface="Arial"/>
              </a:defRPr>
            </a:lvl3pPr>
            <a:lvl4pPr>
              <a:defRPr sz="2625" b="0">
                <a:solidFill>
                  <a:srgbClr val="B9754B"/>
                </a:solidFill>
                <a:latin typeface="Arial"/>
                <a:ea typeface="Arial"/>
                <a:cs typeface="Arial"/>
              </a:defRPr>
            </a:lvl4pPr>
            <a:lvl5pPr>
              <a:defRPr sz="2625" b="0">
                <a:solidFill>
                  <a:srgbClr val="B9754B"/>
                </a:solidFill>
                <a:latin typeface="Arial"/>
                <a:ea typeface="Arial"/>
                <a:cs typeface="Arial"/>
              </a:defRPr>
            </a:lvl5pPr>
            <a:lvl6pPr>
              <a:defRPr sz="2625" b="0">
                <a:solidFill>
                  <a:srgbClr val="B9754B"/>
                </a:solidFill>
                <a:latin typeface="Arial"/>
                <a:ea typeface="Arial"/>
                <a:cs typeface="Arial"/>
              </a:defRPr>
            </a:lvl6pPr>
            <a:lvl7pPr>
              <a:defRPr sz="2625" b="0">
                <a:solidFill>
                  <a:srgbClr val="B9754B"/>
                </a:solidFill>
                <a:latin typeface="Arial"/>
                <a:ea typeface="Arial"/>
                <a:cs typeface="Arial"/>
              </a:defRPr>
            </a:lvl7pPr>
            <a:lvl8pPr>
              <a:defRPr sz="2625" b="0">
                <a:solidFill>
                  <a:srgbClr val="B9754B"/>
                </a:solidFill>
                <a:latin typeface="Arial"/>
                <a:ea typeface="Arial"/>
                <a:cs typeface="Arial"/>
              </a:defRPr>
            </a:lvl8pPr>
            <a:lvl9pPr>
              <a:defRPr sz="2625" b="0">
                <a:solidFill>
                  <a:srgbClr val="B9754B"/>
                </a:solidFill>
                <a:latin typeface="Arial"/>
                <a:ea typeface="Arial"/>
                <a:cs typeface="Arial"/>
              </a:defRPr>
            </a:lvl9pPr>
          </a:lstStyle>
          <a:p xmlns:a="http://schemas.openxmlformats.org/drawingml/2006/main">
            <a:pPr>
              <a:defRPr sz="2625" b="0">
                <a:solidFill>
                  <a:srgbClr val="B9754B"/>
                </a:solidFill>
                <a:latin typeface="Arial"/>
                <a:ea typeface="Arial"/>
                <a:cs typeface="Arial"/>
              </a:defRPr>
            </a:pPr>
            <a:r>
              <a:rPr sz="2625" b="0">
                <a:solidFill>
                  <a:srgbClr val="B9754B"/>
                </a:solidFill>
                <a:latin typeface="Arial"/>
                <a:ea typeface="Arial"/>
                <a:cs typeface="Arial"/>
              </a:rPr>
              <a:t>What does the student enjoy about the work?</a:t>
            </a:r>
          </a:p>
        </p:txBody>
      </p:sp>
      <p:sp>
        <p:nvSpPr>
          <p:cNvPr id="6" name="">
            <a:extLst xmlns:a="http://schemas.openxmlformats.org/drawingml/2006/main">
              <a:ext uri="{FF2B5EF4-FFF2-40B4-BE49-F238E27FC236}">
                <a16:creationId xmlns:a16="http://schemas.microsoft.com/office/drawing/2014/main" id="{95685690-DCDC-4BFF-9314-C724776A6277}"/>
              </a:ext>
            </a:extLst>
          </p:cNvPr>
          <p:cNvSpPr>
            <a:spLocks xmlns:a="http://schemas.openxmlformats.org/drawingml/2006/main" noGrp="1"/>
          </p:cNvSpPr>
          <p:nvPr/>
        </p:nvSpPr>
        <p:spPr>
          <a:xfrm xmlns:a="http://schemas.openxmlformats.org/drawingml/2006/main">
            <a:off x="609600" y="41910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A title offers limited evidence</a:t>
            </a:r>
          </a:p>
        </p:txBody>
      </p:sp>
      <p:sp>
        <p:nvSpPr>
          <p:cNvPr id="7" name="">
            <a:extLst xmlns:a="http://schemas.openxmlformats.org/drawingml/2006/main">
              <a:ext uri="{FF2B5EF4-FFF2-40B4-BE49-F238E27FC236}">
                <a16:creationId xmlns:a16="http://schemas.microsoft.com/office/drawing/2014/main" id="{FF9AB1FA-AF86-4C06-92D9-79DAD950EDD0}"/>
              </a:ext>
            </a:extLst>
          </p:cNvPr>
          <p:cNvSpPr>
            <a:spLocks xmlns:a="http://schemas.openxmlformats.org/drawingml/2006/main" noGrp="1"/>
          </p:cNvSpPr>
          <p:nvPr/>
        </p:nvSpPr>
        <p:spPr>
          <a:xfrm xmlns:a="http://schemas.openxmlformats.org/drawingml/2006/main">
            <a:off x="609600" y="4810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Aspirations can reflect familiarity, prestige, or what students have heard.</a:t>
            </a:r>
          </a:p>
        </p:txBody>
      </p:sp>
      <p:sp>
        <p:nvSpPr>
          <p:cNvPr id="8" name="">
            <a:extLst xmlns:a="http://schemas.openxmlformats.org/drawingml/2006/main">
              <a:ext uri="{FF2B5EF4-FFF2-40B4-BE49-F238E27FC236}">
                <a16:creationId xmlns:a16="http://schemas.microsoft.com/office/drawing/2014/main" id="{5CDAE256-2DBC-45E4-BF87-6EB96EB78220}"/>
              </a:ext>
            </a:extLst>
          </p:cNvPr>
          <p:cNvSpPr>
            <a:spLocks xmlns:a="http://schemas.openxmlformats.org/drawingml/2006/main" noGrp="1"/>
          </p:cNvSpPr>
          <p:nvPr/>
        </p:nvSpPr>
        <p:spPr>
          <a:xfrm xmlns:a="http://schemas.openxmlformats.org/drawingml/2006/main">
            <a:off x="6381750" y="41910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An experiment adds context</a:t>
            </a:r>
          </a:p>
        </p:txBody>
      </p:sp>
      <p:sp>
        <p:nvSpPr>
          <p:cNvPr id="9" name="">
            <a:extLst xmlns:a="http://schemas.openxmlformats.org/drawingml/2006/main">
              <a:ext uri="{FF2B5EF4-FFF2-40B4-BE49-F238E27FC236}">
                <a16:creationId xmlns:a16="http://schemas.microsoft.com/office/drawing/2014/main" id="{73A48631-1508-4F59-B788-CDF8B0FF9019}"/>
              </a:ext>
            </a:extLst>
          </p:cNvPr>
          <p:cNvSpPr>
            <a:spLocks xmlns:a="http://schemas.openxmlformats.org/drawingml/2006/main" noGrp="1"/>
          </p:cNvSpPr>
          <p:nvPr/>
        </p:nvSpPr>
        <p:spPr>
          <a:xfrm xmlns:a="http://schemas.openxmlformats.org/drawingml/2006/main">
            <a:off x="6381750" y="4810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 short task makes reasoning, enjoyment, and support needs visible.</a:t>
            </a:r>
          </a:p>
        </p:txBody>
      </p:sp>
    </p:spTree>
    <p:extLst>
      <p:ext uri="{BB962C8B-B14F-4D97-AF65-F5344CB8AC3E}">
        <p14:creationId xmlns:p14="http://schemas.microsoft.com/office/powerpoint/2010/main" val="1320055364"/>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6D0B56-26C6-4FEB-8971-24F61E200D4A}"/>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A discovery loop built around action</a:t>
            </a:r>
          </a:p>
        </p:txBody>
      </p:sp>
      <p:sp>
        <p:nvSpPr>
          <p:cNvPr id="2" name="">
            <a:extLst xmlns:a="http://schemas.openxmlformats.org/drawingml/2006/main">
              <a:ext uri="{FF2B5EF4-FFF2-40B4-BE49-F238E27FC236}">
                <a16:creationId xmlns:a16="http://schemas.microsoft.com/office/drawing/2014/main" id="{92FD0420-DDA5-4B7B-959D-0F2F40674E5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8D6AACB9-280E-4070-ADA1-2A3A5F853680}"/>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476375F9-B3E2-467D-A22A-C8D695BF15CE}"/>
              </a:ext>
            </a:extLst>
          </p:cNvPr>
          <p:cNvSpPr>
            <a:spLocks xmlns:a="http://schemas.openxmlformats.org/drawingml/2006/main" noGrp="1"/>
          </p:cNvSpPr>
          <p:nvPr/>
        </p:nvSpPr>
        <p:spPr>
          <a:xfrm xmlns:a="http://schemas.openxmlformats.org/drawingml/2006/main">
            <a:off x="609600" y="2047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9EB57D"/>
                </a:solidFill>
                <a:latin typeface="Arial"/>
                <a:ea typeface="Arial"/>
                <a:cs typeface="Arial"/>
              </a:defRPr>
            </a:defPPr>
            <a:lvl1pPr>
              <a:defRPr sz="5250" b="1">
                <a:solidFill>
                  <a:srgbClr val="9EB57D"/>
                </a:solidFill>
                <a:latin typeface="Arial"/>
                <a:ea typeface="Arial"/>
                <a:cs typeface="Arial"/>
              </a:defRPr>
            </a:lvl1pPr>
            <a:lvl2pPr>
              <a:defRPr sz="5250" b="1">
                <a:solidFill>
                  <a:srgbClr val="9EB57D"/>
                </a:solidFill>
                <a:latin typeface="Arial"/>
                <a:ea typeface="Arial"/>
                <a:cs typeface="Arial"/>
              </a:defRPr>
            </a:lvl2pPr>
            <a:lvl3pPr>
              <a:defRPr sz="5250" b="1">
                <a:solidFill>
                  <a:srgbClr val="9EB57D"/>
                </a:solidFill>
                <a:latin typeface="Arial"/>
                <a:ea typeface="Arial"/>
                <a:cs typeface="Arial"/>
              </a:defRPr>
            </a:lvl3pPr>
            <a:lvl4pPr>
              <a:defRPr sz="5250" b="1">
                <a:solidFill>
                  <a:srgbClr val="9EB57D"/>
                </a:solidFill>
                <a:latin typeface="Arial"/>
                <a:ea typeface="Arial"/>
                <a:cs typeface="Arial"/>
              </a:defRPr>
            </a:lvl4pPr>
            <a:lvl5pPr>
              <a:defRPr sz="5250" b="1">
                <a:solidFill>
                  <a:srgbClr val="9EB57D"/>
                </a:solidFill>
                <a:latin typeface="Arial"/>
                <a:ea typeface="Arial"/>
                <a:cs typeface="Arial"/>
              </a:defRPr>
            </a:lvl5pPr>
            <a:lvl6pPr>
              <a:defRPr sz="5250" b="1">
                <a:solidFill>
                  <a:srgbClr val="9EB57D"/>
                </a:solidFill>
                <a:latin typeface="Arial"/>
                <a:ea typeface="Arial"/>
                <a:cs typeface="Arial"/>
              </a:defRPr>
            </a:lvl6pPr>
            <a:lvl7pPr>
              <a:defRPr sz="5250" b="1">
                <a:solidFill>
                  <a:srgbClr val="9EB57D"/>
                </a:solidFill>
                <a:latin typeface="Arial"/>
                <a:ea typeface="Arial"/>
                <a:cs typeface="Arial"/>
              </a:defRPr>
            </a:lvl7pPr>
            <a:lvl8pPr>
              <a:defRPr sz="5250" b="1">
                <a:solidFill>
                  <a:srgbClr val="9EB57D"/>
                </a:solidFill>
                <a:latin typeface="Arial"/>
                <a:ea typeface="Arial"/>
                <a:cs typeface="Arial"/>
              </a:defRPr>
            </a:lvl8pPr>
            <a:lvl9pPr>
              <a:defRPr sz="5250" b="1">
                <a:solidFill>
                  <a:srgbClr val="9EB57D"/>
                </a:solidFill>
                <a:latin typeface="Arial"/>
                <a:ea typeface="Arial"/>
                <a:cs typeface="Arial"/>
              </a:defRPr>
            </a:lvl9pPr>
          </a:lstStyle>
          <a:p xmlns:a="http://schemas.openxmlformats.org/drawingml/2006/main">
            <a:pPr>
              <a:defRPr sz="5250" b="1">
                <a:solidFill>
                  <a:srgbClr val="9EB57D"/>
                </a:solidFill>
                <a:latin typeface="Arial"/>
                <a:ea typeface="Arial"/>
                <a:cs typeface="Arial"/>
              </a:defRPr>
            </a:pPr>
            <a:r>
              <a:rPr sz="5250" b="1">
                <a:solidFill>
                  <a:srgbClr val="9EB57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ADCDC0F-C88C-4562-8F20-DFDFC94D2D4B}"/>
              </a:ext>
            </a:extLst>
          </p:cNvPr>
          <p:cNvSpPr>
            <a:spLocks xmlns:a="http://schemas.openxmlformats.org/drawingml/2006/main" noGrp="1"/>
          </p:cNvSpPr>
          <p:nvPr/>
        </p:nvSpPr>
        <p:spPr>
          <a:xfrm xmlns:a="http://schemas.openxmlformats.org/drawingml/2006/main">
            <a:off x="609600" y="31908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Explore interests</a:t>
            </a:r>
          </a:p>
        </p:txBody>
      </p:sp>
      <p:sp>
        <p:nvSpPr>
          <p:cNvPr id="6" name="">
            <a:extLst xmlns:a="http://schemas.openxmlformats.org/drawingml/2006/main">
              <a:ext uri="{FF2B5EF4-FFF2-40B4-BE49-F238E27FC236}">
                <a16:creationId xmlns:a16="http://schemas.microsoft.com/office/drawing/2014/main" id="{907E2F0E-BDF6-4F93-AB6C-DCDDFCBFD780}"/>
              </a:ext>
            </a:extLst>
          </p:cNvPr>
          <p:cNvSpPr>
            <a:spLocks xmlns:a="http://schemas.openxmlformats.org/drawingml/2006/main" noGrp="1"/>
          </p:cNvSpPr>
          <p:nvPr/>
        </p:nvSpPr>
        <p:spPr>
          <a:xfrm xmlns:a="http://schemas.openxmlformats.org/drawingml/2006/main">
            <a:off x="609600" y="4238625"/>
            <a:ext cx="242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50 questions surface promising directions.</a:t>
            </a:r>
          </a:p>
        </p:txBody>
      </p:sp>
      <p:sp>
        <p:nvSpPr>
          <p:cNvPr id="7" name="">
            <a:extLst xmlns:a="http://schemas.openxmlformats.org/drawingml/2006/main">
              <a:ext uri="{FF2B5EF4-FFF2-40B4-BE49-F238E27FC236}">
                <a16:creationId xmlns:a16="http://schemas.microsoft.com/office/drawing/2014/main" id="{8183895A-D8BD-4EA0-803C-FCA0F667643F}"/>
              </a:ext>
            </a:extLst>
          </p:cNvPr>
          <p:cNvSpPr>
            <a:spLocks xmlns:a="http://schemas.openxmlformats.org/drawingml/2006/main" noGrp="1"/>
          </p:cNvSpPr>
          <p:nvPr/>
        </p:nvSpPr>
        <p:spPr>
          <a:xfrm xmlns:a="http://schemas.openxmlformats.org/drawingml/2006/main">
            <a:off x="3429000" y="2047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9EB57D"/>
                </a:solidFill>
                <a:latin typeface="Arial"/>
                <a:ea typeface="Arial"/>
                <a:cs typeface="Arial"/>
              </a:defRPr>
            </a:defPPr>
            <a:lvl1pPr>
              <a:defRPr sz="5250" b="1">
                <a:solidFill>
                  <a:srgbClr val="9EB57D"/>
                </a:solidFill>
                <a:latin typeface="Arial"/>
                <a:ea typeface="Arial"/>
                <a:cs typeface="Arial"/>
              </a:defRPr>
            </a:lvl1pPr>
            <a:lvl2pPr>
              <a:defRPr sz="5250" b="1">
                <a:solidFill>
                  <a:srgbClr val="9EB57D"/>
                </a:solidFill>
                <a:latin typeface="Arial"/>
                <a:ea typeface="Arial"/>
                <a:cs typeface="Arial"/>
              </a:defRPr>
            </a:lvl2pPr>
            <a:lvl3pPr>
              <a:defRPr sz="5250" b="1">
                <a:solidFill>
                  <a:srgbClr val="9EB57D"/>
                </a:solidFill>
                <a:latin typeface="Arial"/>
                <a:ea typeface="Arial"/>
                <a:cs typeface="Arial"/>
              </a:defRPr>
            </a:lvl3pPr>
            <a:lvl4pPr>
              <a:defRPr sz="5250" b="1">
                <a:solidFill>
                  <a:srgbClr val="9EB57D"/>
                </a:solidFill>
                <a:latin typeface="Arial"/>
                <a:ea typeface="Arial"/>
                <a:cs typeface="Arial"/>
              </a:defRPr>
            </a:lvl4pPr>
            <a:lvl5pPr>
              <a:defRPr sz="5250" b="1">
                <a:solidFill>
                  <a:srgbClr val="9EB57D"/>
                </a:solidFill>
                <a:latin typeface="Arial"/>
                <a:ea typeface="Arial"/>
                <a:cs typeface="Arial"/>
              </a:defRPr>
            </a:lvl5pPr>
            <a:lvl6pPr>
              <a:defRPr sz="5250" b="1">
                <a:solidFill>
                  <a:srgbClr val="9EB57D"/>
                </a:solidFill>
                <a:latin typeface="Arial"/>
                <a:ea typeface="Arial"/>
                <a:cs typeface="Arial"/>
              </a:defRPr>
            </a:lvl6pPr>
            <a:lvl7pPr>
              <a:defRPr sz="5250" b="1">
                <a:solidFill>
                  <a:srgbClr val="9EB57D"/>
                </a:solidFill>
                <a:latin typeface="Arial"/>
                <a:ea typeface="Arial"/>
                <a:cs typeface="Arial"/>
              </a:defRPr>
            </a:lvl7pPr>
            <a:lvl8pPr>
              <a:defRPr sz="5250" b="1">
                <a:solidFill>
                  <a:srgbClr val="9EB57D"/>
                </a:solidFill>
                <a:latin typeface="Arial"/>
                <a:ea typeface="Arial"/>
                <a:cs typeface="Arial"/>
              </a:defRPr>
            </a:lvl8pPr>
            <a:lvl9pPr>
              <a:defRPr sz="5250" b="1">
                <a:solidFill>
                  <a:srgbClr val="9EB57D"/>
                </a:solidFill>
                <a:latin typeface="Arial"/>
                <a:ea typeface="Arial"/>
                <a:cs typeface="Arial"/>
              </a:defRPr>
            </a:lvl9pPr>
          </a:lstStyle>
          <a:p xmlns:a="http://schemas.openxmlformats.org/drawingml/2006/main">
            <a:pPr>
              <a:defRPr sz="5250" b="1">
                <a:solidFill>
                  <a:srgbClr val="9EB57D"/>
                </a:solidFill>
                <a:latin typeface="Arial"/>
                <a:ea typeface="Arial"/>
                <a:cs typeface="Arial"/>
              </a:defRPr>
            </a:pPr>
            <a:r>
              <a:rPr sz="5250" b="1">
                <a:solidFill>
                  <a:srgbClr val="9EB57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9F65995-7A27-4DD2-B01B-F60E3DB99FB0}"/>
              </a:ext>
            </a:extLst>
          </p:cNvPr>
          <p:cNvSpPr>
            <a:spLocks xmlns:a="http://schemas.openxmlformats.org/drawingml/2006/main" noGrp="1"/>
          </p:cNvSpPr>
          <p:nvPr/>
        </p:nvSpPr>
        <p:spPr>
          <a:xfrm xmlns:a="http://schemas.openxmlformats.org/drawingml/2006/main">
            <a:off x="3429000" y="31908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Try the work</a:t>
            </a:r>
          </a:p>
        </p:txBody>
      </p:sp>
      <p:sp>
        <p:nvSpPr>
          <p:cNvPr id="9" name="">
            <a:extLst xmlns:a="http://schemas.openxmlformats.org/drawingml/2006/main">
              <a:ext uri="{FF2B5EF4-FFF2-40B4-BE49-F238E27FC236}">
                <a16:creationId xmlns:a16="http://schemas.microsoft.com/office/drawing/2014/main" id="{6E41EBF1-04CA-400C-8CF4-112B8615A342}"/>
              </a:ext>
            </a:extLst>
          </p:cNvPr>
          <p:cNvSpPr>
            <a:spLocks xmlns:a="http://schemas.openxmlformats.org/drawingml/2006/main" noGrp="1"/>
          </p:cNvSpPr>
          <p:nvPr/>
        </p:nvSpPr>
        <p:spPr>
          <a:xfrm xmlns:a="http://schemas.openxmlformats.org/drawingml/2006/main">
            <a:off x="3429000" y="4238625"/>
            <a:ext cx="242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 guided mission presents a realistic problem.</a:t>
            </a:r>
          </a:p>
        </p:txBody>
      </p:sp>
      <p:sp>
        <p:nvSpPr>
          <p:cNvPr id="10" name="">
            <a:extLst xmlns:a="http://schemas.openxmlformats.org/drawingml/2006/main">
              <a:ext uri="{FF2B5EF4-FFF2-40B4-BE49-F238E27FC236}">
                <a16:creationId xmlns:a16="http://schemas.microsoft.com/office/drawing/2014/main" id="{8F93B16F-32D7-4F86-820F-32C9E581C55B}"/>
              </a:ext>
            </a:extLst>
          </p:cNvPr>
          <p:cNvSpPr>
            <a:spLocks xmlns:a="http://schemas.openxmlformats.org/drawingml/2006/main" noGrp="1"/>
          </p:cNvSpPr>
          <p:nvPr/>
        </p:nvSpPr>
        <p:spPr>
          <a:xfrm xmlns:a="http://schemas.openxmlformats.org/drawingml/2006/main">
            <a:off x="6248400" y="2047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9EB57D"/>
                </a:solidFill>
                <a:latin typeface="Arial"/>
                <a:ea typeface="Arial"/>
                <a:cs typeface="Arial"/>
              </a:defRPr>
            </a:defPPr>
            <a:lvl1pPr>
              <a:defRPr sz="5250" b="1">
                <a:solidFill>
                  <a:srgbClr val="9EB57D"/>
                </a:solidFill>
                <a:latin typeface="Arial"/>
                <a:ea typeface="Arial"/>
                <a:cs typeface="Arial"/>
              </a:defRPr>
            </a:lvl1pPr>
            <a:lvl2pPr>
              <a:defRPr sz="5250" b="1">
                <a:solidFill>
                  <a:srgbClr val="9EB57D"/>
                </a:solidFill>
                <a:latin typeface="Arial"/>
                <a:ea typeface="Arial"/>
                <a:cs typeface="Arial"/>
              </a:defRPr>
            </a:lvl2pPr>
            <a:lvl3pPr>
              <a:defRPr sz="5250" b="1">
                <a:solidFill>
                  <a:srgbClr val="9EB57D"/>
                </a:solidFill>
                <a:latin typeface="Arial"/>
                <a:ea typeface="Arial"/>
                <a:cs typeface="Arial"/>
              </a:defRPr>
            </a:lvl3pPr>
            <a:lvl4pPr>
              <a:defRPr sz="5250" b="1">
                <a:solidFill>
                  <a:srgbClr val="9EB57D"/>
                </a:solidFill>
                <a:latin typeface="Arial"/>
                <a:ea typeface="Arial"/>
                <a:cs typeface="Arial"/>
              </a:defRPr>
            </a:lvl4pPr>
            <a:lvl5pPr>
              <a:defRPr sz="5250" b="1">
                <a:solidFill>
                  <a:srgbClr val="9EB57D"/>
                </a:solidFill>
                <a:latin typeface="Arial"/>
                <a:ea typeface="Arial"/>
                <a:cs typeface="Arial"/>
              </a:defRPr>
            </a:lvl5pPr>
            <a:lvl6pPr>
              <a:defRPr sz="5250" b="1">
                <a:solidFill>
                  <a:srgbClr val="9EB57D"/>
                </a:solidFill>
                <a:latin typeface="Arial"/>
                <a:ea typeface="Arial"/>
                <a:cs typeface="Arial"/>
              </a:defRPr>
            </a:lvl6pPr>
            <a:lvl7pPr>
              <a:defRPr sz="5250" b="1">
                <a:solidFill>
                  <a:srgbClr val="9EB57D"/>
                </a:solidFill>
                <a:latin typeface="Arial"/>
                <a:ea typeface="Arial"/>
                <a:cs typeface="Arial"/>
              </a:defRPr>
            </a:lvl7pPr>
            <a:lvl8pPr>
              <a:defRPr sz="5250" b="1">
                <a:solidFill>
                  <a:srgbClr val="9EB57D"/>
                </a:solidFill>
                <a:latin typeface="Arial"/>
                <a:ea typeface="Arial"/>
                <a:cs typeface="Arial"/>
              </a:defRPr>
            </a:lvl8pPr>
            <a:lvl9pPr>
              <a:defRPr sz="5250" b="1">
                <a:solidFill>
                  <a:srgbClr val="9EB57D"/>
                </a:solidFill>
                <a:latin typeface="Arial"/>
                <a:ea typeface="Arial"/>
                <a:cs typeface="Arial"/>
              </a:defRPr>
            </a:lvl9pPr>
          </a:lstStyle>
          <a:p xmlns:a="http://schemas.openxmlformats.org/drawingml/2006/main">
            <a:pPr>
              <a:defRPr sz="5250" b="1">
                <a:solidFill>
                  <a:srgbClr val="9EB57D"/>
                </a:solidFill>
                <a:latin typeface="Arial"/>
                <a:ea typeface="Arial"/>
                <a:cs typeface="Arial"/>
              </a:defRPr>
            </a:pPr>
            <a:r>
              <a:rPr sz="5250" b="1">
                <a:solidFill>
                  <a:srgbClr val="9EB57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B9E1233-6B12-4A10-A543-8D30DBCA9AC9}"/>
              </a:ext>
            </a:extLst>
          </p:cNvPr>
          <p:cNvSpPr>
            <a:spLocks xmlns:a="http://schemas.openxmlformats.org/drawingml/2006/main" noGrp="1"/>
          </p:cNvSpPr>
          <p:nvPr/>
        </p:nvSpPr>
        <p:spPr>
          <a:xfrm xmlns:a="http://schemas.openxmlformats.org/drawingml/2006/main">
            <a:off x="6248400" y="31908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Review evidence</a:t>
            </a:r>
          </a:p>
        </p:txBody>
      </p:sp>
      <p:sp>
        <p:nvSpPr>
          <p:cNvPr id="12" name="">
            <a:extLst xmlns:a="http://schemas.openxmlformats.org/drawingml/2006/main">
              <a:ext uri="{FF2B5EF4-FFF2-40B4-BE49-F238E27FC236}">
                <a16:creationId xmlns:a16="http://schemas.microsoft.com/office/drawing/2014/main" id="{F2C6C763-08EB-4F9C-B9EA-456057AF841E}"/>
              </a:ext>
            </a:extLst>
          </p:cNvPr>
          <p:cNvSpPr>
            <a:spLocks xmlns:a="http://schemas.openxmlformats.org/drawingml/2006/main" noGrp="1"/>
          </p:cNvSpPr>
          <p:nvPr/>
        </p:nvSpPr>
        <p:spPr>
          <a:xfrm xmlns:a="http://schemas.openxmlformats.org/drawingml/2006/main">
            <a:off x="6248400" y="4238625"/>
            <a:ext cx="242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Feedback explains what the student did.</a:t>
            </a:r>
          </a:p>
        </p:txBody>
      </p:sp>
      <p:sp>
        <p:nvSpPr>
          <p:cNvPr id="13" name="">
            <a:extLst xmlns:a="http://schemas.openxmlformats.org/drawingml/2006/main">
              <a:ext uri="{FF2B5EF4-FFF2-40B4-BE49-F238E27FC236}">
                <a16:creationId xmlns:a16="http://schemas.microsoft.com/office/drawing/2014/main" id="{F2326822-D4B4-4FF0-9CE9-6B385D40FAF8}"/>
              </a:ext>
            </a:extLst>
          </p:cNvPr>
          <p:cNvSpPr>
            <a:spLocks xmlns:a="http://schemas.openxmlformats.org/drawingml/2006/main" noGrp="1"/>
          </p:cNvSpPr>
          <p:nvPr/>
        </p:nvSpPr>
        <p:spPr>
          <a:xfrm xmlns:a="http://schemas.openxmlformats.org/drawingml/2006/main">
            <a:off x="9067800" y="2047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9EB57D"/>
                </a:solidFill>
                <a:latin typeface="Arial"/>
                <a:ea typeface="Arial"/>
                <a:cs typeface="Arial"/>
              </a:defRPr>
            </a:defPPr>
            <a:lvl1pPr>
              <a:defRPr sz="5250" b="1">
                <a:solidFill>
                  <a:srgbClr val="9EB57D"/>
                </a:solidFill>
                <a:latin typeface="Arial"/>
                <a:ea typeface="Arial"/>
                <a:cs typeface="Arial"/>
              </a:defRPr>
            </a:lvl1pPr>
            <a:lvl2pPr>
              <a:defRPr sz="5250" b="1">
                <a:solidFill>
                  <a:srgbClr val="9EB57D"/>
                </a:solidFill>
                <a:latin typeface="Arial"/>
                <a:ea typeface="Arial"/>
                <a:cs typeface="Arial"/>
              </a:defRPr>
            </a:lvl2pPr>
            <a:lvl3pPr>
              <a:defRPr sz="5250" b="1">
                <a:solidFill>
                  <a:srgbClr val="9EB57D"/>
                </a:solidFill>
                <a:latin typeface="Arial"/>
                <a:ea typeface="Arial"/>
                <a:cs typeface="Arial"/>
              </a:defRPr>
            </a:lvl3pPr>
            <a:lvl4pPr>
              <a:defRPr sz="5250" b="1">
                <a:solidFill>
                  <a:srgbClr val="9EB57D"/>
                </a:solidFill>
                <a:latin typeface="Arial"/>
                <a:ea typeface="Arial"/>
                <a:cs typeface="Arial"/>
              </a:defRPr>
            </a:lvl4pPr>
            <a:lvl5pPr>
              <a:defRPr sz="5250" b="1">
                <a:solidFill>
                  <a:srgbClr val="9EB57D"/>
                </a:solidFill>
                <a:latin typeface="Arial"/>
                <a:ea typeface="Arial"/>
                <a:cs typeface="Arial"/>
              </a:defRPr>
            </a:lvl5pPr>
            <a:lvl6pPr>
              <a:defRPr sz="5250" b="1">
                <a:solidFill>
                  <a:srgbClr val="9EB57D"/>
                </a:solidFill>
                <a:latin typeface="Arial"/>
                <a:ea typeface="Arial"/>
                <a:cs typeface="Arial"/>
              </a:defRPr>
            </a:lvl6pPr>
            <a:lvl7pPr>
              <a:defRPr sz="5250" b="1">
                <a:solidFill>
                  <a:srgbClr val="9EB57D"/>
                </a:solidFill>
                <a:latin typeface="Arial"/>
                <a:ea typeface="Arial"/>
                <a:cs typeface="Arial"/>
              </a:defRPr>
            </a:lvl7pPr>
            <a:lvl8pPr>
              <a:defRPr sz="5250" b="1">
                <a:solidFill>
                  <a:srgbClr val="9EB57D"/>
                </a:solidFill>
                <a:latin typeface="Arial"/>
                <a:ea typeface="Arial"/>
                <a:cs typeface="Arial"/>
              </a:defRPr>
            </a:lvl8pPr>
            <a:lvl9pPr>
              <a:defRPr sz="5250" b="1">
                <a:solidFill>
                  <a:srgbClr val="9EB57D"/>
                </a:solidFill>
                <a:latin typeface="Arial"/>
                <a:ea typeface="Arial"/>
                <a:cs typeface="Arial"/>
              </a:defRPr>
            </a:lvl9pPr>
          </a:lstStyle>
          <a:p xmlns:a="http://schemas.openxmlformats.org/drawingml/2006/main">
            <a:pPr>
              <a:defRPr sz="5250" b="1">
                <a:solidFill>
                  <a:srgbClr val="9EB57D"/>
                </a:solidFill>
                <a:latin typeface="Arial"/>
                <a:ea typeface="Arial"/>
                <a:cs typeface="Arial"/>
              </a:defRPr>
            </a:pPr>
            <a:r>
              <a:rPr sz="5250" b="1">
                <a:solidFill>
                  <a:srgbClr val="9EB57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D49CEBC-F173-470A-8D38-07B0CDAAF454}"/>
              </a:ext>
            </a:extLst>
          </p:cNvPr>
          <p:cNvSpPr>
            <a:spLocks xmlns:a="http://schemas.openxmlformats.org/drawingml/2006/main" noGrp="1"/>
          </p:cNvSpPr>
          <p:nvPr/>
        </p:nvSpPr>
        <p:spPr>
          <a:xfrm xmlns:a="http://schemas.openxmlformats.org/drawingml/2006/main">
            <a:off x="9067800" y="31908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Choose an experiment</a:t>
            </a:r>
          </a:p>
        </p:txBody>
      </p:sp>
      <p:sp>
        <p:nvSpPr>
          <p:cNvPr id="15" name="">
            <a:extLst xmlns:a="http://schemas.openxmlformats.org/drawingml/2006/main">
              <a:ext uri="{FF2B5EF4-FFF2-40B4-BE49-F238E27FC236}">
                <a16:creationId xmlns:a16="http://schemas.microsoft.com/office/drawing/2014/main" id="{C21F382B-0A52-43EB-A331-BD6A2B89058A}"/>
              </a:ext>
            </a:extLst>
          </p:cNvPr>
          <p:cNvSpPr>
            <a:spLocks xmlns:a="http://schemas.openxmlformats.org/drawingml/2006/main" noGrp="1"/>
          </p:cNvSpPr>
          <p:nvPr/>
        </p:nvSpPr>
        <p:spPr>
          <a:xfrm xmlns:a="http://schemas.openxmlformats.org/drawingml/2006/main">
            <a:off x="9067800" y="4238625"/>
            <a:ext cx="2428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 practical next step keeps discovery moving.</a:t>
            </a:r>
          </a:p>
        </p:txBody>
      </p:sp>
    </p:spTree>
    <p:extLst>
      <p:ext uri="{BB962C8B-B14F-4D97-AF65-F5344CB8AC3E}">
        <p14:creationId xmlns:p14="http://schemas.microsoft.com/office/powerpoint/2010/main" val="1136721786"/>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CA25AD-013E-4FC5-9886-3FC94171CE7C}"/>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The working MVP</a:t>
            </a:r>
          </a:p>
        </p:txBody>
      </p:sp>
      <p:sp>
        <p:nvSpPr>
          <p:cNvPr id="2" name="">
            <a:extLst xmlns:a="http://schemas.openxmlformats.org/drawingml/2006/main">
              <a:ext uri="{FF2B5EF4-FFF2-40B4-BE49-F238E27FC236}">
                <a16:creationId xmlns:a16="http://schemas.microsoft.com/office/drawing/2014/main" id="{934BFF35-A125-4D8F-A059-90381D5A0570}"/>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234B7EC7-C1BA-4E93-A51C-A268E39422AB}"/>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B32797D-8AFE-4BC6-BF03-E4A7D7658A4F}"/>
              </a:ext>
            </a:extLst>
          </p:cNvPr>
          <p:cNvSpPr>
            <a:spLocks xmlns:a="http://schemas.openxmlformats.org/drawingml/2006/main" noGrp="1"/>
          </p:cNvSpPr>
          <p:nvPr/>
        </p:nvSpPr>
        <p:spPr>
          <a:xfrm xmlns:a="http://schemas.openxmlformats.org/drawingml/2006/main">
            <a:off x="609600" y="2047875"/>
            <a:ext cx="2524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250" b="1">
                <a:solidFill>
                  <a:srgbClr val="294E3E"/>
                </a:solidFill>
                <a:latin typeface="Arial"/>
                <a:ea typeface="Arial"/>
                <a:cs typeface="Arial"/>
              </a:defRPr>
            </a:defPPr>
            <a:lvl1pPr>
              <a:defRPr sz="8250" b="1">
                <a:solidFill>
                  <a:srgbClr val="294E3E"/>
                </a:solidFill>
                <a:latin typeface="Arial"/>
                <a:ea typeface="Arial"/>
                <a:cs typeface="Arial"/>
              </a:defRPr>
            </a:lvl1pPr>
            <a:lvl2pPr>
              <a:defRPr sz="8250" b="1">
                <a:solidFill>
                  <a:srgbClr val="294E3E"/>
                </a:solidFill>
                <a:latin typeface="Arial"/>
                <a:ea typeface="Arial"/>
                <a:cs typeface="Arial"/>
              </a:defRPr>
            </a:lvl2pPr>
            <a:lvl3pPr>
              <a:defRPr sz="8250" b="1">
                <a:solidFill>
                  <a:srgbClr val="294E3E"/>
                </a:solidFill>
                <a:latin typeface="Arial"/>
                <a:ea typeface="Arial"/>
                <a:cs typeface="Arial"/>
              </a:defRPr>
            </a:lvl3pPr>
            <a:lvl4pPr>
              <a:defRPr sz="8250" b="1">
                <a:solidFill>
                  <a:srgbClr val="294E3E"/>
                </a:solidFill>
                <a:latin typeface="Arial"/>
                <a:ea typeface="Arial"/>
                <a:cs typeface="Arial"/>
              </a:defRPr>
            </a:lvl4pPr>
            <a:lvl5pPr>
              <a:defRPr sz="8250" b="1">
                <a:solidFill>
                  <a:srgbClr val="294E3E"/>
                </a:solidFill>
                <a:latin typeface="Arial"/>
                <a:ea typeface="Arial"/>
                <a:cs typeface="Arial"/>
              </a:defRPr>
            </a:lvl5pPr>
            <a:lvl6pPr>
              <a:defRPr sz="8250" b="1">
                <a:solidFill>
                  <a:srgbClr val="294E3E"/>
                </a:solidFill>
                <a:latin typeface="Arial"/>
                <a:ea typeface="Arial"/>
                <a:cs typeface="Arial"/>
              </a:defRPr>
            </a:lvl6pPr>
            <a:lvl7pPr>
              <a:defRPr sz="8250" b="1">
                <a:solidFill>
                  <a:srgbClr val="294E3E"/>
                </a:solidFill>
                <a:latin typeface="Arial"/>
                <a:ea typeface="Arial"/>
                <a:cs typeface="Arial"/>
              </a:defRPr>
            </a:lvl7pPr>
            <a:lvl8pPr>
              <a:defRPr sz="8250" b="1">
                <a:solidFill>
                  <a:srgbClr val="294E3E"/>
                </a:solidFill>
                <a:latin typeface="Arial"/>
                <a:ea typeface="Arial"/>
                <a:cs typeface="Arial"/>
              </a:defRPr>
            </a:lvl8pPr>
            <a:lvl9pPr>
              <a:defRPr sz="8250" b="1">
                <a:solidFill>
                  <a:srgbClr val="294E3E"/>
                </a:solidFill>
                <a:latin typeface="Arial"/>
                <a:ea typeface="Arial"/>
                <a:cs typeface="Arial"/>
              </a:defRPr>
            </a:lvl9pPr>
          </a:lstStyle>
          <a:p xmlns:a="http://schemas.openxmlformats.org/drawingml/2006/main">
            <a:pPr>
              <a:defRPr sz="8250" b="1">
                <a:solidFill>
                  <a:srgbClr val="294E3E"/>
                </a:solidFill>
                <a:latin typeface="Arial"/>
                <a:ea typeface="Arial"/>
                <a:cs typeface="Arial"/>
              </a:defRPr>
            </a:pPr>
            <a:r>
              <a:rPr sz="8250" b="1">
                <a:solidFill>
                  <a:srgbClr val="294E3E"/>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3CDE9B4A-7431-4574-88AA-B59C9EC362DF}"/>
              </a:ext>
            </a:extLst>
          </p:cNvPr>
          <p:cNvSpPr>
            <a:spLocks xmlns:a="http://schemas.openxmlformats.org/drawingml/2006/main" noGrp="1"/>
          </p:cNvSpPr>
          <p:nvPr/>
        </p:nvSpPr>
        <p:spPr>
          <a:xfrm xmlns:a="http://schemas.openxmlformats.org/drawingml/2006/main">
            <a:off x="609600" y="38576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Multiple-choice</a:t>
            </a:r>
          </a:p>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1CFB74DE-21E8-403B-8AC8-BD02B9CA5DF2}"/>
              </a:ext>
            </a:extLst>
          </p:cNvPr>
          <p:cNvSpPr>
            <a:spLocks xmlns:a="http://schemas.openxmlformats.org/drawingml/2006/main" noGrp="1"/>
          </p:cNvSpPr>
          <p:nvPr/>
        </p:nvSpPr>
        <p:spPr>
          <a:xfrm xmlns:a="http://schemas.openxmlformats.org/drawingml/2006/main">
            <a:off x="3429000" y="2047875"/>
            <a:ext cx="2524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250" b="1">
                <a:solidFill>
                  <a:srgbClr val="294E3E"/>
                </a:solidFill>
                <a:latin typeface="Arial"/>
                <a:ea typeface="Arial"/>
                <a:cs typeface="Arial"/>
              </a:defRPr>
            </a:defPPr>
            <a:lvl1pPr>
              <a:defRPr sz="8250" b="1">
                <a:solidFill>
                  <a:srgbClr val="294E3E"/>
                </a:solidFill>
                <a:latin typeface="Arial"/>
                <a:ea typeface="Arial"/>
                <a:cs typeface="Arial"/>
              </a:defRPr>
            </a:lvl1pPr>
            <a:lvl2pPr>
              <a:defRPr sz="8250" b="1">
                <a:solidFill>
                  <a:srgbClr val="294E3E"/>
                </a:solidFill>
                <a:latin typeface="Arial"/>
                <a:ea typeface="Arial"/>
                <a:cs typeface="Arial"/>
              </a:defRPr>
            </a:lvl2pPr>
            <a:lvl3pPr>
              <a:defRPr sz="8250" b="1">
                <a:solidFill>
                  <a:srgbClr val="294E3E"/>
                </a:solidFill>
                <a:latin typeface="Arial"/>
                <a:ea typeface="Arial"/>
                <a:cs typeface="Arial"/>
              </a:defRPr>
            </a:lvl3pPr>
            <a:lvl4pPr>
              <a:defRPr sz="8250" b="1">
                <a:solidFill>
                  <a:srgbClr val="294E3E"/>
                </a:solidFill>
                <a:latin typeface="Arial"/>
                <a:ea typeface="Arial"/>
                <a:cs typeface="Arial"/>
              </a:defRPr>
            </a:lvl4pPr>
            <a:lvl5pPr>
              <a:defRPr sz="8250" b="1">
                <a:solidFill>
                  <a:srgbClr val="294E3E"/>
                </a:solidFill>
                <a:latin typeface="Arial"/>
                <a:ea typeface="Arial"/>
                <a:cs typeface="Arial"/>
              </a:defRPr>
            </a:lvl5pPr>
            <a:lvl6pPr>
              <a:defRPr sz="8250" b="1">
                <a:solidFill>
                  <a:srgbClr val="294E3E"/>
                </a:solidFill>
                <a:latin typeface="Arial"/>
                <a:ea typeface="Arial"/>
                <a:cs typeface="Arial"/>
              </a:defRPr>
            </a:lvl6pPr>
            <a:lvl7pPr>
              <a:defRPr sz="8250" b="1">
                <a:solidFill>
                  <a:srgbClr val="294E3E"/>
                </a:solidFill>
                <a:latin typeface="Arial"/>
                <a:ea typeface="Arial"/>
                <a:cs typeface="Arial"/>
              </a:defRPr>
            </a:lvl7pPr>
            <a:lvl8pPr>
              <a:defRPr sz="8250" b="1">
                <a:solidFill>
                  <a:srgbClr val="294E3E"/>
                </a:solidFill>
                <a:latin typeface="Arial"/>
                <a:ea typeface="Arial"/>
                <a:cs typeface="Arial"/>
              </a:defRPr>
            </a:lvl8pPr>
            <a:lvl9pPr>
              <a:defRPr sz="8250" b="1">
                <a:solidFill>
                  <a:srgbClr val="294E3E"/>
                </a:solidFill>
                <a:latin typeface="Arial"/>
                <a:ea typeface="Arial"/>
                <a:cs typeface="Arial"/>
              </a:defRPr>
            </a:lvl9pPr>
          </a:lstStyle>
          <a:p xmlns:a="http://schemas.openxmlformats.org/drawingml/2006/main">
            <a:pPr>
              <a:defRPr sz="8250" b="1">
                <a:solidFill>
                  <a:srgbClr val="294E3E"/>
                </a:solidFill>
                <a:latin typeface="Arial"/>
                <a:ea typeface="Arial"/>
                <a:cs typeface="Arial"/>
              </a:defRPr>
            </a:pPr>
            <a:r>
              <a:rPr sz="8250" b="1">
                <a:solidFill>
                  <a:srgbClr val="294E3E"/>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4C7F9592-871B-4D1D-A332-BA0BFB9B09A6}"/>
              </a:ext>
            </a:extLst>
          </p:cNvPr>
          <p:cNvSpPr>
            <a:spLocks xmlns:a="http://schemas.openxmlformats.org/drawingml/2006/main" noGrp="1"/>
          </p:cNvSpPr>
          <p:nvPr/>
        </p:nvSpPr>
        <p:spPr>
          <a:xfrm xmlns:a="http://schemas.openxmlformats.org/drawingml/2006/main">
            <a:off x="3429000" y="38576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Career interest</a:t>
            </a:r>
          </a:p>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areas</a:t>
            </a:r>
          </a:p>
        </p:txBody>
      </p:sp>
      <p:sp>
        <p:nvSpPr>
          <p:cNvPr id="8" name="">
            <a:extLst xmlns:a="http://schemas.openxmlformats.org/drawingml/2006/main">
              <a:ext uri="{FF2B5EF4-FFF2-40B4-BE49-F238E27FC236}">
                <a16:creationId xmlns:a16="http://schemas.microsoft.com/office/drawing/2014/main" id="{A049EBD4-B639-42A0-8F48-2341FE2AF26C}"/>
              </a:ext>
            </a:extLst>
          </p:cNvPr>
          <p:cNvSpPr>
            <a:spLocks xmlns:a="http://schemas.openxmlformats.org/drawingml/2006/main" noGrp="1"/>
          </p:cNvSpPr>
          <p:nvPr/>
        </p:nvSpPr>
        <p:spPr>
          <a:xfrm xmlns:a="http://schemas.openxmlformats.org/drawingml/2006/main">
            <a:off x="6248400" y="2047875"/>
            <a:ext cx="2524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250" b="1">
                <a:solidFill>
                  <a:srgbClr val="294E3E"/>
                </a:solidFill>
                <a:latin typeface="Arial"/>
                <a:ea typeface="Arial"/>
                <a:cs typeface="Arial"/>
              </a:defRPr>
            </a:defPPr>
            <a:lvl1pPr>
              <a:defRPr sz="8250" b="1">
                <a:solidFill>
                  <a:srgbClr val="294E3E"/>
                </a:solidFill>
                <a:latin typeface="Arial"/>
                <a:ea typeface="Arial"/>
                <a:cs typeface="Arial"/>
              </a:defRPr>
            </a:lvl1pPr>
            <a:lvl2pPr>
              <a:defRPr sz="8250" b="1">
                <a:solidFill>
                  <a:srgbClr val="294E3E"/>
                </a:solidFill>
                <a:latin typeface="Arial"/>
                <a:ea typeface="Arial"/>
                <a:cs typeface="Arial"/>
              </a:defRPr>
            </a:lvl2pPr>
            <a:lvl3pPr>
              <a:defRPr sz="8250" b="1">
                <a:solidFill>
                  <a:srgbClr val="294E3E"/>
                </a:solidFill>
                <a:latin typeface="Arial"/>
                <a:ea typeface="Arial"/>
                <a:cs typeface="Arial"/>
              </a:defRPr>
            </a:lvl3pPr>
            <a:lvl4pPr>
              <a:defRPr sz="8250" b="1">
                <a:solidFill>
                  <a:srgbClr val="294E3E"/>
                </a:solidFill>
                <a:latin typeface="Arial"/>
                <a:ea typeface="Arial"/>
                <a:cs typeface="Arial"/>
              </a:defRPr>
            </a:lvl4pPr>
            <a:lvl5pPr>
              <a:defRPr sz="8250" b="1">
                <a:solidFill>
                  <a:srgbClr val="294E3E"/>
                </a:solidFill>
                <a:latin typeface="Arial"/>
                <a:ea typeface="Arial"/>
                <a:cs typeface="Arial"/>
              </a:defRPr>
            </a:lvl5pPr>
            <a:lvl6pPr>
              <a:defRPr sz="8250" b="1">
                <a:solidFill>
                  <a:srgbClr val="294E3E"/>
                </a:solidFill>
                <a:latin typeface="Arial"/>
                <a:ea typeface="Arial"/>
                <a:cs typeface="Arial"/>
              </a:defRPr>
            </a:lvl6pPr>
            <a:lvl7pPr>
              <a:defRPr sz="8250" b="1">
                <a:solidFill>
                  <a:srgbClr val="294E3E"/>
                </a:solidFill>
                <a:latin typeface="Arial"/>
                <a:ea typeface="Arial"/>
                <a:cs typeface="Arial"/>
              </a:defRPr>
            </a:lvl7pPr>
            <a:lvl8pPr>
              <a:defRPr sz="8250" b="1">
                <a:solidFill>
                  <a:srgbClr val="294E3E"/>
                </a:solidFill>
                <a:latin typeface="Arial"/>
                <a:ea typeface="Arial"/>
                <a:cs typeface="Arial"/>
              </a:defRPr>
            </a:lvl8pPr>
            <a:lvl9pPr>
              <a:defRPr sz="8250" b="1">
                <a:solidFill>
                  <a:srgbClr val="294E3E"/>
                </a:solidFill>
                <a:latin typeface="Arial"/>
                <a:ea typeface="Arial"/>
                <a:cs typeface="Arial"/>
              </a:defRPr>
            </a:lvl9pPr>
          </a:lstStyle>
          <a:p xmlns:a="http://schemas.openxmlformats.org/drawingml/2006/main">
            <a:pPr>
              <a:defRPr sz="8250" b="1">
                <a:solidFill>
                  <a:srgbClr val="294E3E"/>
                </a:solidFill>
                <a:latin typeface="Arial"/>
                <a:ea typeface="Arial"/>
                <a:cs typeface="Arial"/>
              </a:defRPr>
            </a:pPr>
            <a:r>
              <a:rPr sz="8250" b="1">
                <a:solidFill>
                  <a:srgbClr val="294E3E"/>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942A4AB7-8AC9-4FEA-913C-86CDE0BE4B54}"/>
              </a:ext>
            </a:extLst>
          </p:cNvPr>
          <p:cNvSpPr>
            <a:spLocks xmlns:a="http://schemas.openxmlformats.org/drawingml/2006/main" noGrp="1"/>
          </p:cNvSpPr>
          <p:nvPr/>
        </p:nvSpPr>
        <p:spPr>
          <a:xfrm xmlns:a="http://schemas.openxmlformats.org/drawingml/2006/main">
            <a:off x="6248400" y="38576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Interactive</a:t>
            </a:r>
          </a:p>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missions</a:t>
            </a:r>
          </a:p>
        </p:txBody>
      </p:sp>
      <p:sp>
        <p:nvSpPr>
          <p:cNvPr id="10" name="">
            <a:extLst xmlns:a="http://schemas.openxmlformats.org/drawingml/2006/main">
              <a:ext uri="{FF2B5EF4-FFF2-40B4-BE49-F238E27FC236}">
                <a16:creationId xmlns:a16="http://schemas.microsoft.com/office/drawing/2014/main" id="{DF7F877F-77DA-4204-8155-7FC9CFD6FBE8}"/>
              </a:ext>
            </a:extLst>
          </p:cNvPr>
          <p:cNvSpPr>
            <a:spLocks xmlns:a="http://schemas.openxmlformats.org/drawingml/2006/main" noGrp="1"/>
          </p:cNvSpPr>
          <p:nvPr/>
        </p:nvSpPr>
        <p:spPr>
          <a:xfrm xmlns:a="http://schemas.openxmlformats.org/drawingml/2006/main">
            <a:off x="9067800" y="2047875"/>
            <a:ext cx="2524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250" b="1">
                <a:solidFill>
                  <a:srgbClr val="294E3E"/>
                </a:solidFill>
                <a:latin typeface="Arial"/>
                <a:ea typeface="Arial"/>
                <a:cs typeface="Arial"/>
              </a:defRPr>
            </a:defPPr>
            <a:lvl1pPr>
              <a:defRPr sz="8250" b="1">
                <a:solidFill>
                  <a:srgbClr val="294E3E"/>
                </a:solidFill>
                <a:latin typeface="Arial"/>
                <a:ea typeface="Arial"/>
                <a:cs typeface="Arial"/>
              </a:defRPr>
            </a:lvl1pPr>
            <a:lvl2pPr>
              <a:defRPr sz="8250" b="1">
                <a:solidFill>
                  <a:srgbClr val="294E3E"/>
                </a:solidFill>
                <a:latin typeface="Arial"/>
                <a:ea typeface="Arial"/>
                <a:cs typeface="Arial"/>
              </a:defRPr>
            </a:lvl2pPr>
            <a:lvl3pPr>
              <a:defRPr sz="8250" b="1">
                <a:solidFill>
                  <a:srgbClr val="294E3E"/>
                </a:solidFill>
                <a:latin typeface="Arial"/>
                <a:ea typeface="Arial"/>
                <a:cs typeface="Arial"/>
              </a:defRPr>
            </a:lvl3pPr>
            <a:lvl4pPr>
              <a:defRPr sz="8250" b="1">
                <a:solidFill>
                  <a:srgbClr val="294E3E"/>
                </a:solidFill>
                <a:latin typeface="Arial"/>
                <a:ea typeface="Arial"/>
                <a:cs typeface="Arial"/>
              </a:defRPr>
            </a:lvl4pPr>
            <a:lvl5pPr>
              <a:defRPr sz="8250" b="1">
                <a:solidFill>
                  <a:srgbClr val="294E3E"/>
                </a:solidFill>
                <a:latin typeface="Arial"/>
                <a:ea typeface="Arial"/>
                <a:cs typeface="Arial"/>
              </a:defRPr>
            </a:lvl5pPr>
            <a:lvl6pPr>
              <a:defRPr sz="8250" b="1">
                <a:solidFill>
                  <a:srgbClr val="294E3E"/>
                </a:solidFill>
                <a:latin typeface="Arial"/>
                <a:ea typeface="Arial"/>
                <a:cs typeface="Arial"/>
              </a:defRPr>
            </a:lvl6pPr>
            <a:lvl7pPr>
              <a:defRPr sz="8250" b="1">
                <a:solidFill>
                  <a:srgbClr val="294E3E"/>
                </a:solidFill>
                <a:latin typeface="Arial"/>
                <a:ea typeface="Arial"/>
                <a:cs typeface="Arial"/>
              </a:defRPr>
            </a:lvl7pPr>
            <a:lvl8pPr>
              <a:defRPr sz="8250" b="1">
                <a:solidFill>
                  <a:srgbClr val="294E3E"/>
                </a:solidFill>
                <a:latin typeface="Arial"/>
                <a:ea typeface="Arial"/>
                <a:cs typeface="Arial"/>
              </a:defRPr>
            </a:lvl8pPr>
            <a:lvl9pPr>
              <a:defRPr sz="8250" b="1">
                <a:solidFill>
                  <a:srgbClr val="294E3E"/>
                </a:solidFill>
                <a:latin typeface="Arial"/>
                <a:ea typeface="Arial"/>
                <a:cs typeface="Arial"/>
              </a:defRPr>
            </a:lvl9pPr>
          </a:lstStyle>
          <a:p xmlns:a="http://schemas.openxmlformats.org/drawingml/2006/main">
            <a:pPr>
              <a:defRPr sz="8250" b="1">
                <a:solidFill>
                  <a:srgbClr val="294E3E"/>
                </a:solidFill>
                <a:latin typeface="Arial"/>
                <a:ea typeface="Arial"/>
                <a:cs typeface="Arial"/>
              </a:defRPr>
            </a:pPr>
            <a:r>
              <a:rPr sz="8250" b="1">
                <a:solidFill>
                  <a:srgbClr val="294E3E"/>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F1FD23DB-E5E2-43A0-820A-87B79813E31B}"/>
              </a:ext>
            </a:extLst>
          </p:cNvPr>
          <p:cNvSpPr>
            <a:spLocks xmlns:a="http://schemas.openxmlformats.org/drawingml/2006/main" noGrp="1"/>
          </p:cNvSpPr>
          <p:nvPr/>
        </p:nvSpPr>
        <p:spPr>
          <a:xfrm xmlns:a="http://schemas.openxmlformats.org/drawingml/2006/main">
            <a:off x="9067800" y="38576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Personal discovery</a:t>
            </a:r>
          </a:p>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journal</a:t>
            </a:r>
          </a:p>
        </p:txBody>
      </p:sp>
      <p:sp>
        <p:nvSpPr>
          <p:cNvPr id="12" name="">
            <a:extLst xmlns:a="http://schemas.openxmlformats.org/drawingml/2006/main">
              <a:ext uri="{FF2B5EF4-FFF2-40B4-BE49-F238E27FC236}">
                <a16:creationId xmlns:a16="http://schemas.microsoft.com/office/drawing/2014/main" id="{2E8BF0A7-7750-4F43-85DA-F0B40D6E178F}"/>
              </a:ext>
            </a:extLst>
          </p:cNvPr>
          <p:cNvSpPr>
            <a:spLocks xmlns:a="http://schemas.openxmlformats.org/drawingml/2006/main" noGrp="1"/>
          </p:cNvSpPr>
          <p:nvPr/>
        </p:nvSpPr>
        <p:spPr>
          <a:xfrm xmlns:a="http://schemas.openxmlformats.org/drawingml/2006/main">
            <a:off x="609600" y="5619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Grade or age setup with saved progress and personalized next steps</a:t>
            </a:r>
          </a:p>
        </p:txBody>
      </p:sp>
    </p:spTree>
    <p:extLst>
      <p:ext uri="{BB962C8B-B14F-4D97-AF65-F5344CB8AC3E}">
        <p14:creationId xmlns:p14="http://schemas.microsoft.com/office/powerpoint/2010/main" val="129955093"/>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9C87CD-CA6F-4354-A131-39B5C249FB4C}"/>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Three jobs students can try today</a:t>
            </a:r>
          </a:p>
        </p:txBody>
      </p:sp>
      <p:sp>
        <p:nvSpPr>
          <p:cNvPr id="2" name="">
            <a:extLst xmlns:a="http://schemas.openxmlformats.org/drawingml/2006/main">
              <a:ext uri="{FF2B5EF4-FFF2-40B4-BE49-F238E27FC236}">
                <a16:creationId xmlns:a16="http://schemas.microsoft.com/office/drawing/2014/main" id="{14A52480-46F1-41C7-A06D-C503CAE54F7E}"/>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9C01DF4A-DE4D-444F-88F1-F83001DDBF20}"/>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9CAB57E5-9973-416B-8E51-876A1417D89F}"/>
              </a:ext>
            </a:extLst>
          </p:cNvPr>
          <p:cNvGraphicFramePr/>
          <p:nvPr/>
        </p:nvGraphicFramePr>
        <p:xfrm>
          <a:off xmlns:a="http://schemas.openxmlformats.org/drawingml/2006/main" x="609600" y="1905000"/>
          <a:ext xmlns:a="http://schemas.openxmlformats.org/drawingml/2006/main" cx="10972800" cy="3524250"/>
        </p:xfrm>
        <a:graphic xmlns:a="http://schemas.openxmlformats.org/drawingml/2006/main">
          <a:graphicData uri="http://schemas.openxmlformats.org/drawingml/2006/table">
            <a:tbl>
              <a:tblPr/>
              <a:tblGrid>
                <a:gridCol w="3095625"/>
                <a:gridCol w="4857750"/>
                <a:gridCol w="3019425"/>
              </a:tblGrid>
              <a:tr h="619125">
                <a:tc>
                  <a:txBody>
                    <a:bodyPr lIns="133350" tIns="133350" rIns="133350" bIns="133350"/>
                    <a:lstStyle/>
                    <a:p>
                      <a:r>
                        <a:rPr sz="1725" b="1">
                          <a:solidFill>
                            <a:srgbClr val="F8F8F2"/>
                          </a:solidFill>
                          <a:latin typeface="Arial"/>
                          <a:ea typeface="Arial"/>
                          <a:cs typeface="Arial"/>
                        </a:rPr>
                        <a:t>Career mission</a:t>
                      </a:r>
                    </a:p>
                  </a:txBody>
                  <a:tcPr marL="91440" marR="91440" marT="45720" marB="45720">
                    <a:solidFill>
                      <a:srgbClr val="294E3E"/>
                    </a:solidFill>
                  </a:tcPr>
                </a:tc>
                <a:tc>
                  <a:txBody>
                    <a:bodyPr lIns="133350" tIns="133350" rIns="133350" bIns="133350"/>
                    <a:lstStyle/>
                    <a:p>
                      <a:r>
                        <a:rPr sz="1725" b="1">
                          <a:solidFill>
                            <a:srgbClr val="F8F8F2"/>
                          </a:solidFill>
                          <a:latin typeface="Arial"/>
                          <a:ea typeface="Arial"/>
                          <a:cs typeface="Arial"/>
                        </a:rPr>
                        <a:t>The miniature job</a:t>
                      </a:r>
                    </a:p>
                  </a:txBody>
                  <a:tcPr marL="91440" marR="91440" marT="45720" marB="45720">
                    <a:solidFill>
                      <a:srgbClr val="294E3E"/>
                    </a:solidFill>
                  </a:tcPr>
                </a:tc>
                <a:tc>
                  <a:txBody>
                    <a:bodyPr lIns="133350" tIns="133350" rIns="133350" bIns="133350"/>
                    <a:lstStyle/>
                    <a:p>
                      <a:r>
                        <a:rPr sz="1725" b="1">
                          <a:solidFill>
                            <a:srgbClr val="F8F8F2"/>
                          </a:solidFill>
                          <a:latin typeface="Arial"/>
                          <a:ea typeface="Arial"/>
                          <a:cs typeface="Arial"/>
                        </a:rPr>
                        <a:t>Learning level</a:t>
                      </a:r>
                    </a:p>
                  </a:txBody>
                  <a:tcPr marL="91440" marR="91440" marT="45720" marB="45720">
                    <a:solidFill>
                      <a:srgbClr val="294E3E"/>
                    </a:solidFill>
                  </a:tcPr>
                </a:tc>
              </a:tr>
              <a:tr h="968375">
                <a:tc>
                  <a:txBody>
                    <a:bodyPr lIns="133350" tIns="133350" rIns="133350" bIns="133350"/>
                    <a:lstStyle/>
                    <a:p>
                      <a:r>
                        <a:rPr sz="1800" b="0">
                          <a:solidFill>
                            <a:srgbClr val="253A31"/>
                          </a:solidFill>
                          <a:latin typeface="Arial"/>
                          <a:ea typeface="Arial"/>
                          <a:cs typeface="Arial"/>
                        </a:rPr>
                        <a:t>Software development</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Fix a registration rule</a:t>
                      </a:r>
                    </a:p>
                    <a:p>
                      <a:r>
                        <a:rPr sz="1800" b="0">
                          <a:solidFill>
                            <a:srgbClr val="253A31"/>
                          </a:solidFill>
                          <a:latin typeface="Arial"/>
                          <a:ea typeface="Arial"/>
                          <a:cs typeface="Arial"/>
                        </a:rPr>
                        <a:t>and choose boundary tests</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Grade 7+ / age 12+</a:t>
                      </a:r>
                    </a:p>
                  </a:txBody>
                  <a:tcPr marL="91440" marR="91440" marT="45720" marB="45720">
                    <a:solidFill>
                      <a:srgbClr val="EFF2E8"/>
                    </a:solidFill>
                  </a:tcPr>
                </a:tc>
              </a:tr>
              <a:tr h="968375">
                <a:tc>
                  <a:txBody>
                    <a:bodyPr lIns="133350" tIns="133350" rIns="133350" bIns="133350"/>
                    <a:lstStyle/>
                    <a:p>
                      <a:r>
                        <a:rPr sz="1800" b="0">
                          <a:solidFill>
                            <a:srgbClr val="253A31"/>
                          </a:solidFill>
                          <a:latin typeface="Arial"/>
                          <a:ea typeface="Arial"/>
                          <a:cs typeface="Arial"/>
                        </a:rPr>
                        <a:t>Product design</a:t>
                      </a:r>
                    </a:p>
                  </a:txBody>
                  <a:tcPr marL="91440" marR="91440" marT="45720" marB="45720">
                    <a:solidFill>
                      <a:srgbClr val="F8F8F2"/>
                    </a:solidFill>
                  </a:tcPr>
                </a:tc>
                <a:tc>
                  <a:txBody>
                    <a:bodyPr lIns="133350" tIns="133350" rIns="133350" bIns="133350"/>
                    <a:lstStyle/>
                    <a:p>
                      <a:r>
                        <a:rPr sz="1800" b="0">
                          <a:solidFill>
                            <a:srgbClr val="253A31"/>
                          </a:solidFill>
                          <a:latin typeface="Arial"/>
                          <a:ea typeface="Arial"/>
                          <a:cs typeface="Arial"/>
                        </a:rPr>
                        <a:t>Improve a confusing</a:t>
                      </a:r>
                    </a:p>
                    <a:p>
                      <a:r>
                        <a:rPr sz="1800" b="0">
                          <a:solidFill>
                            <a:srgbClr val="253A31"/>
                          </a:solidFill>
                          <a:latin typeface="Arial"/>
                          <a:ea typeface="Arial"/>
                          <a:cs typeface="Arial"/>
                        </a:rPr>
                        <a:t>bus booking flow</a:t>
                      </a:r>
                    </a:p>
                  </a:txBody>
                  <a:tcPr marL="91440" marR="91440" marT="45720" marB="45720">
                    <a:solidFill>
                      <a:srgbClr val="F8F8F2"/>
                    </a:solidFill>
                  </a:tcPr>
                </a:tc>
                <a:tc>
                  <a:txBody>
                    <a:bodyPr lIns="133350" tIns="133350" rIns="133350" bIns="133350"/>
                    <a:lstStyle/>
                    <a:p>
                      <a:r>
                        <a:rPr sz="1800" b="0">
                          <a:solidFill>
                            <a:srgbClr val="253A31"/>
                          </a:solidFill>
                          <a:latin typeface="Arial"/>
                          <a:ea typeface="Arial"/>
                          <a:cs typeface="Arial"/>
                        </a:rPr>
                        <a:t>Grade 6+ / age 11+</a:t>
                      </a:r>
                    </a:p>
                  </a:txBody>
                  <a:tcPr marL="91440" marR="91440" marT="45720" marB="45720">
                    <a:solidFill>
                      <a:srgbClr val="F8F8F2"/>
                    </a:solidFill>
                  </a:tcPr>
                </a:tc>
              </a:tr>
              <a:tr h="968375">
                <a:tc>
                  <a:txBody>
                    <a:bodyPr lIns="133350" tIns="133350" rIns="133350" bIns="133350"/>
                    <a:lstStyle/>
                    <a:p>
                      <a:r>
                        <a:rPr sz="1800" b="0">
                          <a:solidFill>
                            <a:srgbClr val="253A31"/>
                          </a:solidFill>
                          <a:latin typeface="Arial"/>
                          <a:ea typeface="Arial"/>
                          <a:cs typeface="Arial"/>
                        </a:rPr>
                        <a:t>Business analysis</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Investigate café sales</a:t>
                      </a:r>
                    </a:p>
                    <a:p>
                      <a:r>
                        <a:rPr sz="1800" b="0">
                          <a:solidFill>
                            <a:srgbClr val="253A31"/>
                          </a:solidFill>
                          <a:latin typeface="Arial"/>
                          <a:ea typeface="Arial"/>
                          <a:cs typeface="Arial"/>
                        </a:rPr>
                        <a:t>and propose an experiment</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Grade 9+ / age 14+</a:t>
                      </a:r>
                    </a:p>
                  </a:txBody>
                  <a:tcPr marL="91440" marR="91440" marT="45720" marB="45720">
                    <a:solidFill>
                      <a:srgbClr val="EFF2E8"/>
                    </a:solidFill>
                  </a:tcPr>
                </a:tc>
              </a:tr>
            </a:tbl>
          </a:graphicData>
        </a:graphic>
      </p:graphicFrame>
      <p:sp>
        <p:nvSpPr>
          <p:cNvPr id="5" name="">
            <a:extLst xmlns:a="http://schemas.openxmlformats.org/drawingml/2006/main">
              <a:ext uri="{FF2B5EF4-FFF2-40B4-BE49-F238E27FC236}">
                <a16:creationId xmlns:a16="http://schemas.microsoft.com/office/drawing/2014/main" id="{F4DC3A4B-1E55-44C3-ABAF-E5EAC303E5FA}"/>
              </a:ext>
            </a:extLst>
          </p:cNvPr>
          <p:cNvSpPr>
            <a:spLocks xmlns:a="http://schemas.openxmlformats.org/drawingml/2006/main" noGrp="1"/>
          </p:cNvSpPr>
          <p:nvPr/>
        </p:nvSpPr>
        <p:spPr>
          <a:xfrm xmlns:a="http://schemas.openxmlformats.org/drawingml/2006/main">
            <a:off x="609600" y="5667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57365"/>
                </a:solidFill>
                <a:latin typeface="Arial"/>
                <a:ea typeface="Arial"/>
                <a:cs typeface="Arial"/>
              </a:defRPr>
            </a:defPPr>
            <a:lvl1pPr>
              <a:defRPr sz="1800" b="0">
                <a:solidFill>
                  <a:srgbClr val="657365"/>
                </a:solidFill>
                <a:latin typeface="Arial"/>
                <a:ea typeface="Arial"/>
                <a:cs typeface="Arial"/>
              </a:defRPr>
            </a:lvl1pPr>
            <a:lvl2pPr>
              <a:defRPr sz="1800" b="0">
                <a:solidFill>
                  <a:srgbClr val="657365"/>
                </a:solidFill>
                <a:latin typeface="Arial"/>
                <a:ea typeface="Arial"/>
                <a:cs typeface="Arial"/>
              </a:defRPr>
            </a:lvl2pPr>
            <a:lvl3pPr>
              <a:defRPr sz="1800" b="0">
                <a:solidFill>
                  <a:srgbClr val="657365"/>
                </a:solidFill>
                <a:latin typeface="Arial"/>
                <a:ea typeface="Arial"/>
                <a:cs typeface="Arial"/>
              </a:defRPr>
            </a:lvl3pPr>
            <a:lvl4pPr>
              <a:defRPr sz="1800" b="0">
                <a:solidFill>
                  <a:srgbClr val="657365"/>
                </a:solidFill>
                <a:latin typeface="Arial"/>
                <a:ea typeface="Arial"/>
                <a:cs typeface="Arial"/>
              </a:defRPr>
            </a:lvl4pPr>
            <a:lvl5pPr>
              <a:defRPr sz="1800" b="0">
                <a:solidFill>
                  <a:srgbClr val="657365"/>
                </a:solidFill>
                <a:latin typeface="Arial"/>
                <a:ea typeface="Arial"/>
                <a:cs typeface="Arial"/>
              </a:defRPr>
            </a:lvl5pPr>
            <a:lvl6pPr>
              <a:defRPr sz="1800" b="0">
                <a:solidFill>
                  <a:srgbClr val="657365"/>
                </a:solidFill>
                <a:latin typeface="Arial"/>
                <a:ea typeface="Arial"/>
                <a:cs typeface="Arial"/>
              </a:defRPr>
            </a:lvl6pPr>
            <a:lvl7pPr>
              <a:defRPr sz="1800" b="0">
                <a:solidFill>
                  <a:srgbClr val="657365"/>
                </a:solidFill>
                <a:latin typeface="Arial"/>
                <a:ea typeface="Arial"/>
                <a:cs typeface="Arial"/>
              </a:defRPr>
            </a:lvl7pPr>
            <a:lvl8pPr>
              <a:defRPr sz="1800" b="0">
                <a:solidFill>
                  <a:srgbClr val="657365"/>
                </a:solidFill>
                <a:latin typeface="Arial"/>
                <a:ea typeface="Arial"/>
                <a:cs typeface="Arial"/>
              </a:defRPr>
            </a:lvl8pPr>
            <a:lvl9pPr>
              <a:defRPr sz="1800" b="0">
                <a:solidFill>
                  <a:srgbClr val="657365"/>
                </a:solidFill>
                <a:latin typeface="Arial"/>
                <a:ea typeface="Arial"/>
                <a:cs typeface="Arial"/>
              </a:defRPr>
            </a:lvl9pPr>
          </a:lstStyle>
          <a:p xmlns:a="http://schemas.openxmlformats.org/drawingml/2006/main">
            <a:pPr>
              <a:defRPr sz="1800" b="0">
                <a:solidFill>
                  <a:srgbClr val="657365"/>
                </a:solidFill>
                <a:latin typeface="Arial"/>
                <a:ea typeface="Arial"/>
                <a:cs typeface="Arial"/>
              </a:defRPr>
            </a:pPr>
            <a:r>
              <a:rPr sz="1800" b="0">
                <a:solidFill>
                  <a:srgbClr val="657365"/>
                </a:solidFill>
                <a:latin typeface="Arial"/>
                <a:ea typeface="Arial"/>
                <a:cs typeface="Arial"/>
              </a:rPr>
              <a:t>Students can browse every level. Their saved grade or age controls which missions open.</a:t>
            </a:r>
          </a:p>
        </p:txBody>
      </p:sp>
    </p:spTree>
    <p:extLst>
      <p:ext uri="{BB962C8B-B14F-4D97-AF65-F5344CB8AC3E}">
        <p14:creationId xmlns:p14="http://schemas.microsoft.com/office/powerpoint/2010/main" val="1759004504"/>
      </p:ext>
    </p:extLst>
  </p:cSld>
</p:sld>
</file>

<file path=ppt/slides/slide6.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C74089-462D-48AF-8BB3-7A0E629EE400}"/>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Same ambition, different strengths</a:t>
            </a:r>
          </a:p>
        </p:txBody>
      </p:sp>
      <p:sp>
        <p:nvSpPr>
          <p:cNvPr id="2" name="">
            <a:extLst xmlns:a="http://schemas.openxmlformats.org/drawingml/2006/main">
              <a:ext uri="{FF2B5EF4-FFF2-40B4-BE49-F238E27FC236}">
                <a16:creationId xmlns:a16="http://schemas.microsoft.com/office/drawing/2014/main" id="{6B81B185-F0A3-4735-B4F9-CCE8AF5497E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F96C88EB-C422-4017-BF11-56D007EB4070}"/>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FFDFF2D-63AF-4E1F-80CA-ECFB95E52505}"/>
              </a:ext>
            </a:extLst>
          </p:cNvPr>
          <p:cNvSpPr>
            <a:spLocks xmlns:a="http://schemas.openxmlformats.org/drawingml/2006/main" noGrp="1"/>
          </p:cNvSpPr>
          <p:nvPr/>
        </p:nvSpPr>
        <p:spPr>
          <a:xfrm xmlns:a="http://schemas.openxmlformats.org/drawingml/2006/main">
            <a:off x="609600" y="1857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ALEX: THE DEBUGGER</a:t>
            </a:r>
          </a:p>
        </p:txBody>
      </p:sp>
      <p:sp>
        <p:nvSpPr>
          <p:cNvPr id="5" name="">
            <a:extLst xmlns:a="http://schemas.openxmlformats.org/drawingml/2006/main">
              <a:ext uri="{FF2B5EF4-FFF2-40B4-BE49-F238E27FC236}">
                <a16:creationId xmlns:a16="http://schemas.microsoft.com/office/drawing/2014/main" id="{3FF2E4D7-D0DE-4AAC-ABC0-818D9BD80543}"/>
              </a:ext>
            </a:extLst>
          </p:cNvPr>
          <p:cNvSpPr>
            <a:spLocks xmlns:a="http://schemas.openxmlformats.org/drawingml/2006/main" noGrp="1"/>
          </p:cNvSpPr>
          <p:nvPr/>
        </p:nvSpPr>
        <p:spPr>
          <a:xfrm xmlns:a="http://schemas.openxmlformats.org/drawingml/2006/main">
            <a:off x="6477000" y="1857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SAM: THE DESIGNER</a:t>
            </a:r>
          </a:p>
        </p:txBody>
      </p:sp>
      <p:sp>
        <p:nvSpPr>
          <p:cNvPr id="6" name="">
            <a:extLst xmlns:a="http://schemas.openxmlformats.org/drawingml/2006/main">
              <a:ext uri="{FF2B5EF4-FFF2-40B4-BE49-F238E27FC236}">
                <a16:creationId xmlns:a16="http://schemas.microsoft.com/office/drawing/2014/main" id="{84ACBABD-3266-46F4-8B09-6DECC60A3E79}"/>
              </a:ext>
            </a:extLst>
          </p:cNvPr>
          <p:cNvSpPr>
            <a:spLocks xmlns:a="http://schemas.openxmlformats.org/drawingml/2006/main" noGrp="1"/>
          </p:cNvSpPr>
          <p:nvPr/>
        </p:nvSpPr>
        <p:spPr>
          <a:xfrm xmlns:a="http://schemas.openxmlformats.org/drawingml/2006/main">
            <a:off x="609600" y="238125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94E3E"/>
                </a:solidFill>
                <a:latin typeface="Arial"/>
                <a:ea typeface="Arial"/>
                <a:cs typeface="Arial"/>
              </a:defRPr>
            </a:defPPr>
            <a:lvl1pPr>
              <a:defRPr sz="3000" b="1">
                <a:solidFill>
                  <a:srgbClr val="294E3E"/>
                </a:solidFill>
                <a:latin typeface="Arial"/>
                <a:ea typeface="Arial"/>
                <a:cs typeface="Arial"/>
              </a:defRPr>
            </a:lvl1pPr>
            <a:lvl2pPr>
              <a:defRPr sz="3000" b="1">
                <a:solidFill>
                  <a:srgbClr val="294E3E"/>
                </a:solidFill>
                <a:latin typeface="Arial"/>
                <a:ea typeface="Arial"/>
                <a:cs typeface="Arial"/>
              </a:defRPr>
            </a:lvl2pPr>
            <a:lvl3pPr>
              <a:defRPr sz="3000" b="1">
                <a:solidFill>
                  <a:srgbClr val="294E3E"/>
                </a:solidFill>
                <a:latin typeface="Arial"/>
                <a:ea typeface="Arial"/>
                <a:cs typeface="Arial"/>
              </a:defRPr>
            </a:lvl3pPr>
            <a:lvl4pPr>
              <a:defRPr sz="3000" b="1">
                <a:solidFill>
                  <a:srgbClr val="294E3E"/>
                </a:solidFill>
                <a:latin typeface="Arial"/>
                <a:ea typeface="Arial"/>
                <a:cs typeface="Arial"/>
              </a:defRPr>
            </a:lvl4pPr>
            <a:lvl5pPr>
              <a:defRPr sz="3000" b="1">
                <a:solidFill>
                  <a:srgbClr val="294E3E"/>
                </a:solidFill>
                <a:latin typeface="Arial"/>
                <a:ea typeface="Arial"/>
                <a:cs typeface="Arial"/>
              </a:defRPr>
            </a:lvl5pPr>
            <a:lvl6pPr>
              <a:defRPr sz="3000" b="1">
                <a:solidFill>
                  <a:srgbClr val="294E3E"/>
                </a:solidFill>
                <a:latin typeface="Arial"/>
                <a:ea typeface="Arial"/>
                <a:cs typeface="Arial"/>
              </a:defRPr>
            </a:lvl6pPr>
            <a:lvl7pPr>
              <a:defRPr sz="3000" b="1">
                <a:solidFill>
                  <a:srgbClr val="294E3E"/>
                </a:solidFill>
                <a:latin typeface="Arial"/>
                <a:ea typeface="Arial"/>
                <a:cs typeface="Arial"/>
              </a:defRPr>
            </a:lvl7pPr>
            <a:lvl8pPr>
              <a:defRPr sz="3000" b="1">
                <a:solidFill>
                  <a:srgbClr val="294E3E"/>
                </a:solidFill>
                <a:latin typeface="Arial"/>
                <a:ea typeface="Arial"/>
                <a:cs typeface="Arial"/>
              </a:defRPr>
            </a:lvl8pPr>
            <a:lvl9pPr>
              <a:defRPr sz="3000" b="1">
                <a:solidFill>
                  <a:srgbClr val="294E3E"/>
                </a:solidFill>
                <a:latin typeface="Arial"/>
                <a:ea typeface="Arial"/>
                <a:cs typeface="Arial"/>
              </a:defRPr>
            </a:lvl9pPr>
          </a:lstStyle>
          <a:p xmlns:a="http://schemas.openxmlformats.org/drawingml/2006/main">
            <a:pPr>
              <a:defRPr sz="3000" b="1">
                <a:solidFill>
                  <a:srgbClr val="294E3E"/>
                </a:solidFill>
                <a:latin typeface="Arial"/>
                <a:ea typeface="Arial"/>
                <a:cs typeface="Arial"/>
              </a:defRPr>
            </a:pPr>
            <a:r>
              <a:rPr sz="3000" b="1">
                <a:solidFill>
                  <a:srgbClr val="294E3E"/>
                </a:solidFill>
                <a:latin typeface="Arial"/>
                <a:ea typeface="Arial"/>
                <a:cs typeface="Arial"/>
              </a:rPr>
              <a:t>Tests the boundary</a:t>
            </a:r>
          </a:p>
        </p:txBody>
      </p:sp>
      <p:sp>
        <p:nvSpPr>
          <p:cNvPr id="7" name="">
            <a:extLst xmlns:a="http://schemas.openxmlformats.org/drawingml/2006/main">
              <a:ext uri="{FF2B5EF4-FFF2-40B4-BE49-F238E27FC236}">
                <a16:creationId xmlns:a16="http://schemas.microsoft.com/office/drawing/2014/main" id="{56090C4D-8D52-4226-BE0D-E7DD6C0F4B5B}"/>
              </a:ext>
            </a:extLst>
          </p:cNvPr>
          <p:cNvSpPr>
            <a:spLocks xmlns:a="http://schemas.openxmlformats.org/drawingml/2006/main" noGrp="1"/>
          </p:cNvSpPr>
          <p:nvPr/>
        </p:nvSpPr>
        <p:spPr>
          <a:xfrm xmlns:a="http://schemas.openxmlformats.org/drawingml/2006/main">
            <a:off x="6477000" y="238125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94E3E"/>
                </a:solidFill>
                <a:latin typeface="Arial"/>
                <a:ea typeface="Arial"/>
                <a:cs typeface="Arial"/>
              </a:defRPr>
            </a:defPPr>
            <a:lvl1pPr>
              <a:defRPr sz="3000" b="1">
                <a:solidFill>
                  <a:srgbClr val="294E3E"/>
                </a:solidFill>
                <a:latin typeface="Arial"/>
                <a:ea typeface="Arial"/>
                <a:cs typeface="Arial"/>
              </a:defRPr>
            </a:lvl1pPr>
            <a:lvl2pPr>
              <a:defRPr sz="3000" b="1">
                <a:solidFill>
                  <a:srgbClr val="294E3E"/>
                </a:solidFill>
                <a:latin typeface="Arial"/>
                <a:ea typeface="Arial"/>
                <a:cs typeface="Arial"/>
              </a:defRPr>
            </a:lvl2pPr>
            <a:lvl3pPr>
              <a:defRPr sz="3000" b="1">
                <a:solidFill>
                  <a:srgbClr val="294E3E"/>
                </a:solidFill>
                <a:latin typeface="Arial"/>
                <a:ea typeface="Arial"/>
                <a:cs typeface="Arial"/>
              </a:defRPr>
            </a:lvl3pPr>
            <a:lvl4pPr>
              <a:defRPr sz="3000" b="1">
                <a:solidFill>
                  <a:srgbClr val="294E3E"/>
                </a:solidFill>
                <a:latin typeface="Arial"/>
                <a:ea typeface="Arial"/>
                <a:cs typeface="Arial"/>
              </a:defRPr>
            </a:lvl4pPr>
            <a:lvl5pPr>
              <a:defRPr sz="3000" b="1">
                <a:solidFill>
                  <a:srgbClr val="294E3E"/>
                </a:solidFill>
                <a:latin typeface="Arial"/>
                <a:ea typeface="Arial"/>
                <a:cs typeface="Arial"/>
              </a:defRPr>
            </a:lvl5pPr>
            <a:lvl6pPr>
              <a:defRPr sz="3000" b="1">
                <a:solidFill>
                  <a:srgbClr val="294E3E"/>
                </a:solidFill>
                <a:latin typeface="Arial"/>
                <a:ea typeface="Arial"/>
                <a:cs typeface="Arial"/>
              </a:defRPr>
            </a:lvl6pPr>
            <a:lvl7pPr>
              <a:defRPr sz="3000" b="1">
                <a:solidFill>
                  <a:srgbClr val="294E3E"/>
                </a:solidFill>
                <a:latin typeface="Arial"/>
                <a:ea typeface="Arial"/>
                <a:cs typeface="Arial"/>
              </a:defRPr>
            </a:lvl7pPr>
            <a:lvl8pPr>
              <a:defRPr sz="3000" b="1">
                <a:solidFill>
                  <a:srgbClr val="294E3E"/>
                </a:solidFill>
                <a:latin typeface="Arial"/>
                <a:ea typeface="Arial"/>
                <a:cs typeface="Arial"/>
              </a:defRPr>
            </a:lvl8pPr>
            <a:lvl9pPr>
              <a:defRPr sz="3000" b="1">
                <a:solidFill>
                  <a:srgbClr val="294E3E"/>
                </a:solidFill>
                <a:latin typeface="Arial"/>
                <a:ea typeface="Arial"/>
                <a:cs typeface="Arial"/>
              </a:defRPr>
            </a:lvl9pPr>
          </a:lstStyle>
          <a:p xmlns:a="http://schemas.openxmlformats.org/drawingml/2006/main">
            <a:pPr>
              <a:defRPr sz="3000" b="1">
                <a:solidFill>
                  <a:srgbClr val="294E3E"/>
                </a:solidFill>
                <a:latin typeface="Arial"/>
                <a:ea typeface="Arial"/>
                <a:cs typeface="Arial"/>
              </a:defRPr>
            </a:pPr>
            <a:r>
              <a:rPr sz="3000" b="1">
                <a:solidFill>
                  <a:srgbClr val="294E3E"/>
                </a:solidFill>
                <a:latin typeface="Arial"/>
                <a:ea typeface="Arial"/>
                <a:cs typeface="Arial"/>
              </a:rPr>
              <a:t>Sees the confusion</a:t>
            </a:r>
          </a:p>
        </p:txBody>
      </p:sp>
      <p:sp>
        <p:nvSpPr>
          <p:cNvPr id="8" name="">
            <a:extLst xmlns:a="http://schemas.openxmlformats.org/drawingml/2006/main">
              <a:ext uri="{FF2B5EF4-FFF2-40B4-BE49-F238E27FC236}">
                <a16:creationId xmlns:a16="http://schemas.microsoft.com/office/drawing/2014/main" id="{FBB6DD82-14C9-467E-A2A6-CF6CC8BB6BCE}"/>
              </a:ext>
            </a:extLst>
          </p:cNvPr>
          <p:cNvSpPr>
            <a:spLocks xmlns:a="http://schemas.openxmlformats.org/drawingml/2006/main" noGrp="1"/>
          </p:cNvSpPr>
          <p:nvPr/>
        </p:nvSpPr>
        <p:spPr>
          <a:xfrm xmlns:a="http://schemas.openxmlformats.org/drawingml/2006/main">
            <a:off x="609600" y="33337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Checks 29, 30, and 31 registrations before trusting the fix.</a:t>
            </a:r>
          </a:p>
        </p:txBody>
      </p:sp>
      <p:sp>
        <p:nvSpPr>
          <p:cNvPr id="9" name="">
            <a:extLst xmlns:a="http://schemas.openxmlformats.org/drawingml/2006/main">
              <a:ext uri="{FF2B5EF4-FFF2-40B4-BE49-F238E27FC236}">
                <a16:creationId xmlns:a16="http://schemas.microsoft.com/office/drawing/2014/main" id="{64F26BA3-4775-48BB-9387-3A0B93C12CC3}"/>
              </a:ext>
            </a:extLst>
          </p:cNvPr>
          <p:cNvSpPr>
            <a:spLocks xmlns:a="http://schemas.openxmlformats.org/drawingml/2006/main" noGrp="1"/>
          </p:cNvSpPr>
          <p:nvPr/>
        </p:nvSpPr>
        <p:spPr>
          <a:xfrm xmlns:a="http://schemas.openxmlformats.org/drawingml/2006/main">
            <a:off x="6477000" y="33337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Notices the error message gives students no useful next action.</a:t>
            </a:r>
          </a:p>
        </p:txBody>
      </p:sp>
      <p:sp>
        <p:nvSpPr>
          <p:cNvPr id="10" name="">
            <a:extLst xmlns:a="http://schemas.openxmlformats.org/drawingml/2006/main">
              <a:ext uri="{FF2B5EF4-FFF2-40B4-BE49-F238E27FC236}">
                <a16:creationId xmlns:a16="http://schemas.microsoft.com/office/drawing/2014/main" id="{3C0F0F6B-3BEF-4243-8AEE-E6AC3A07EC9F}"/>
              </a:ext>
            </a:extLst>
          </p:cNvPr>
          <p:cNvSpPr>
            <a:spLocks xmlns:a="http://schemas.openxmlformats.org/drawingml/2006/main" noGrp="1"/>
          </p:cNvSpPr>
          <p:nvPr/>
        </p:nvSpPr>
        <p:spPr>
          <a:xfrm xmlns:a="http://schemas.openxmlformats.org/drawingml/2006/main">
            <a:off x="609600" y="47625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NEXT EXPERIMENT</a:t>
            </a:r>
          </a:p>
        </p:txBody>
      </p:sp>
      <p:sp>
        <p:nvSpPr>
          <p:cNvPr id="11" name="">
            <a:extLst xmlns:a="http://schemas.openxmlformats.org/drawingml/2006/main">
              <a:ext uri="{FF2B5EF4-FFF2-40B4-BE49-F238E27FC236}">
                <a16:creationId xmlns:a16="http://schemas.microsoft.com/office/drawing/2014/main" id="{C5D0E375-7B34-47A7-B84B-AAD2650CD770}"/>
              </a:ext>
            </a:extLst>
          </p:cNvPr>
          <p:cNvSpPr>
            <a:spLocks xmlns:a="http://schemas.openxmlformats.org/drawingml/2006/main" noGrp="1"/>
          </p:cNvSpPr>
          <p:nvPr/>
        </p:nvSpPr>
        <p:spPr>
          <a:xfrm xmlns:a="http://schemas.openxmlformats.org/drawingml/2006/main">
            <a:off x="6477000" y="47625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NEXT EXPERIMENT</a:t>
            </a:r>
          </a:p>
        </p:txBody>
      </p:sp>
      <p:sp>
        <p:nvSpPr>
          <p:cNvPr id="12" name="">
            <a:extLst xmlns:a="http://schemas.openxmlformats.org/drawingml/2006/main">
              <a:ext uri="{FF2B5EF4-FFF2-40B4-BE49-F238E27FC236}">
                <a16:creationId xmlns:a16="http://schemas.microsoft.com/office/drawing/2014/main" id="{118DA6CC-9AEC-419A-B679-4A62E4450564}"/>
              </a:ext>
            </a:extLst>
          </p:cNvPr>
          <p:cNvSpPr>
            <a:spLocks xmlns:a="http://schemas.openxmlformats.org/drawingml/2006/main" noGrp="1"/>
          </p:cNvSpPr>
          <p:nvPr/>
        </p:nvSpPr>
        <p:spPr>
          <a:xfrm xmlns:a="http://schemas.openxmlformats.org/drawingml/2006/main">
            <a:off x="609600" y="514350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57365"/>
                </a:solidFill>
                <a:latin typeface="Arial"/>
                <a:ea typeface="Arial"/>
                <a:cs typeface="Arial"/>
              </a:defRPr>
            </a:defPPr>
            <a:lvl1pPr>
              <a:defRPr sz="2025" b="0">
                <a:solidFill>
                  <a:srgbClr val="657365"/>
                </a:solidFill>
                <a:latin typeface="Arial"/>
                <a:ea typeface="Arial"/>
                <a:cs typeface="Arial"/>
              </a:defRPr>
            </a:lvl1pPr>
            <a:lvl2pPr>
              <a:defRPr sz="2025" b="0">
                <a:solidFill>
                  <a:srgbClr val="657365"/>
                </a:solidFill>
                <a:latin typeface="Arial"/>
                <a:ea typeface="Arial"/>
                <a:cs typeface="Arial"/>
              </a:defRPr>
            </a:lvl2pPr>
            <a:lvl3pPr>
              <a:defRPr sz="2025" b="0">
                <a:solidFill>
                  <a:srgbClr val="657365"/>
                </a:solidFill>
                <a:latin typeface="Arial"/>
                <a:ea typeface="Arial"/>
                <a:cs typeface="Arial"/>
              </a:defRPr>
            </a:lvl3pPr>
            <a:lvl4pPr>
              <a:defRPr sz="2025" b="0">
                <a:solidFill>
                  <a:srgbClr val="657365"/>
                </a:solidFill>
                <a:latin typeface="Arial"/>
                <a:ea typeface="Arial"/>
                <a:cs typeface="Arial"/>
              </a:defRPr>
            </a:lvl4pPr>
            <a:lvl5pPr>
              <a:defRPr sz="2025" b="0">
                <a:solidFill>
                  <a:srgbClr val="657365"/>
                </a:solidFill>
                <a:latin typeface="Arial"/>
                <a:ea typeface="Arial"/>
                <a:cs typeface="Arial"/>
              </a:defRPr>
            </a:lvl5pPr>
            <a:lvl6pPr>
              <a:defRPr sz="2025" b="0">
                <a:solidFill>
                  <a:srgbClr val="657365"/>
                </a:solidFill>
                <a:latin typeface="Arial"/>
                <a:ea typeface="Arial"/>
                <a:cs typeface="Arial"/>
              </a:defRPr>
            </a:lvl6pPr>
            <a:lvl7pPr>
              <a:defRPr sz="2025" b="0">
                <a:solidFill>
                  <a:srgbClr val="657365"/>
                </a:solidFill>
                <a:latin typeface="Arial"/>
                <a:ea typeface="Arial"/>
                <a:cs typeface="Arial"/>
              </a:defRPr>
            </a:lvl7pPr>
            <a:lvl8pPr>
              <a:defRPr sz="2025" b="0">
                <a:solidFill>
                  <a:srgbClr val="657365"/>
                </a:solidFill>
                <a:latin typeface="Arial"/>
                <a:ea typeface="Arial"/>
                <a:cs typeface="Arial"/>
              </a:defRPr>
            </a:lvl8pPr>
            <a:lvl9pPr>
              <a:defRPr sz="2025" b="0">
                <a:solidFill>
                  <a:srgbClr val="657365"/>
                </a:solidFill>
                <a:latin typeface="Arial"/>
                <a:ea typeface="Arial"/>
                <a:cs typeface="Arial"/>
              </a:defRPr>
            </a:lvl9pPr>
          </a:lstStyle>
          <a:p xmlns:a="http://schemas.openxmlformats.org/drawingml/2006/main">
            <a:pPr>
              <a:defRPr sz="2025" b="0">
                <a:solidFill>
                  <a:srgbClr val="657365"/>
                </a:solidFill>
                <a:latin typeface="Arial"/>
                <a:ea typeface="Arial"/>
                <a:cs typeface="Arial"/>
              </a:defRPr>
            </a:pPr>
            <a:r>
              <a:rPr sz="2025" b="0">
                <a:solidFill>
                  <a:srgbClr val="657365"/>
                </a:solidFill>
                <a:latin typeface="Arial"/>
                <a:ea typeface="Arial"/>
                <a:cs typeface="Arial"/>
              </a:rPr>
              <a:t>Debug a failure with several plausible causes.</a:t>
            </a:r>
          </a:p>
        </p:txBody>
      </p:sp>
      <p:sp>
        <p:nvSpPr>
          <p:cNvPr id="13" name="">
            <a:extLst xmlns:a="http://schemas.openxmlformats.org/drawingml/2006/main">
              <a:ext uri="{FF2B5EF4-FFF2-40B4-BE49-F238E27FC236}">
                <a16:creationId xmlns:a16="http://schemas.microsoft.com/office/drawing/2014/main" id="{62246B56-83BC-4AC4-9051-81DD9129D136}"/>
              </a:ext>
            </a:extLst>
          </p:cNvPr>
          <p:cNvSpPr>
            <a:spLocks xmlns:a="http://schemas.openxmlformats.org/drawingml/2006/main" noGrp="1"/>
          </p:cNvSpPr>
          <p:nvPr/>
        </p:nvSpPr>
        <p:spPr>
          <a:xfrm xmlns:a="http://schemas.openxmlformats.org/drawingml/2006/main">
            <a:off x="6477000" y="514350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57365"/>
                </a:solidFill>
                <a:latin typeface="Arial"/>
                <a:ea typeface="Arial"/>
                <a:cs typeface="Arial"/>
              </a:defRPr>
            </a:defPPr>
            <a:lvl1pPr>
              <a:defRPr sz="2025" b="0">
                <a:solidFill>
                  <a:srgbClr val="657365"/>
                </a:solidFill>
                <a:latin typeface="Arial"/>
                <a:ea typeface="Arial"/>
                <a:cs typeface="Arial"/>
              </a:defRPr>
            </a:lvl1pPr>
            <a:lvl2pPr>
              <a:defRPr sz="2025" b="0">
                <a:solidFill>
                  <a:srgbClr val="657365"/>
                </a:solidFill>
                <a:latin typeface="Arial"/>
                <a:ea typeface="Arial"/>
                <a:cs typeface="Arial"/>
              </a:defRPr>
            </a:lvl2pPr>
            <a:lvl3pPr>
              <a:defRPr sz="2025" b="0">
                <a:solidFill>
                  <a:srgbClr val="657365"/>
                </a:solidFill>
                <a:latin typeface="Arial"/>
                <a:ea typeface="Arial"/>
                <a:cs typeface="Arial"/>
              </a:defRPr>
            </a:lvl3pPr>
            <a:lvl4pPr>
              <a:defRPr sz="2025" b="0">
                <a:solidFill>
                  <a:srgbClr val="657365"/>
                </a:solidFill>
                <a:latin typeface="Arial"/>
                <a:ea typeface="Arial"/>
                <a:cs typeface="Arial"/>
              </a:defRPr>
            </a:lvl4pPr>
            <a:lvl5pPr>
              <a:defRPr sz="2025" b="0">
                <a:solidFill>
                  <a:srgbClr val="657365"/>
                </a:solidFill>
                <a:latin typeface="Arial"/>
                <a:ea typeface="Arial"/>
                <a:cs typeface="Arial"/>
              </a:defRPr>
            </a:lvl5pPr>
            <a:lvl6pPr>
              <a:defRPr sz="2025" b="0">
                <a:solidFill>
                  <a:srgbClr val="657365"/>
                </a:solidFill>
                <a:latin typeface="Arial"/>
                <a:ea typeface="Arial"/>
                <a:cs typeface="Arial"/>
              </a:defRPr>
            </a:lvl6pPr>
            <a:lvl7pPr>
              <a:defRPr sz="2025" b="0">
                <a:solidFill>
                  <a:srgbClr val="657365"/>
                </a:solidFill>
                <a:latin typeface="Arial"/>
                <a:ea typeface="Arial"/>
                <a:cs typeface="Arial"/>
              </a:defRPr>
            </a:lvl7pPr>
            <a:lvl8pPr>
              <a:defRPr sz="2025" b="0">
                <a:solidFill>
                  <a:srgbClr val="657365"/>
                </a:solidFill>
                <a:latin typeface="Arial"/>
                <a:ea typeface="Arial"/>
                <a:cs typeface="Arial"/>
              </a:defRPr>
            </a:lvl8pPr>
            <a:lvl9pPr>
              <a:defRPr sz="2025" b="0">
                <a:solidFill>
                  <a:srgbClr val="657365"/>
                </a:solidFill>
                <a:latin typeface="Arial"/>
                <a:ea typeface="Arial"/>
                <a:cs typeface="Arial"/>
              </a:defRPr>
            </a:lvl9pPr>
          </a:lstStyle>
          <a:p xmlns:a="http://schemas.openxmlformats.org/drawingml/2006/main">
            <a:pPr>
              <a:defRPr sz="2025" b="0">
                <a:solidFill>
                  <a:srgbClr val="657365"/>
                </a:solidFill>
                <a:latin typeface="Arial"/>
                <a:ea typeface="Arial"/>
                <a:cs typeface="Arial"/>
              </a:defRPr>
            </a:pPr>
            <a:r>
              <a:rPr sz="2025" b="0">
                <a:solidFill>
                  <a:srgbClr val="657365"/>
                </a:solidFill>
                <a:latin typeface="Arial"/>
                <a:ea typeface="Arial"/>
                <a:cs typeface="Arial"/>
              </a:rPr>
              <a:t>Design and test a clearer recovery message.</a:t>
            </a:r>
          </a:p>
        </p:txBody>
      </p:sp>
    </p:spTree>
    <p:extLst>
      <p:ext uri="{BB962C8B-B14F-4D97-AF65-F5344CB8AC3E}">
        <p14:creationId xmlns:p14="http://schemas.microsoft.com/office/powerpoint/2010/main" val="424887788"/>
      </p:ext>
    </p:extLst>
  </p:cSld>
</p:sld>
</file>

<file path=ppt/slides/slide7.xml><?xml version="1.0" encoding="utf-8"?>
<p:sld xmlns:p="http://schemas.openxmlformats.org/presentationml/2006/main">
  <p:cSld>
    <p:bg>
      <p:bgPr>
        <a:solidFill xmlns:a="http://schemas.openxmlformats.org/drawingml/2006/main">
          <a:srgbClr val="294E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941FA7-6717-4977-9153-66E1A2BF6B00}"/>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8F8F2"/>
                </a:solidFill>
                <a:latin typeface="Arial"/>
                <a:ea typeface="Arial"/>
                <a:cs typeface="Arial"/>
              </a:defRPr>
            </a:defPPr>
            <a:lvl1pPr>
              <a:defRPr sz="3450" b="1">
                <a:solidFill>
                  <a:srgbClr val="F8F8F2"/>
                </a:solidFill>
                <a:latin typeface="Arial"/>
                <a:ea typeface="Arial"/>
                <a:cs typeface="Arial"/>
              </a:defRPr>
            </a:lvl1pPr>
            <a:lvl2pPr>
              <a:defRPr sz="3450" b="1">
                <a:solidFill>
                  <a:srgbClr val="F8F8F2"/>
                </a:solidFill>
                <a:latin typeface="Arial"/>
                <a:ea typeface="Arial"/>
                <a:cs typeface="Arial"/>
              </a:defRPr>
            </a:lvl2pPr>
            <a:lvl3pPr>
              <a:defRPr sz="3450" b="1">
                <a:solidFill>
                  <a:srgbClr val="F8F8F2"/>
                </a:solidFill>
                <a:latin typeface="Arial"/>
                <a:ea typeface="Arial"/>
                <a:cs typeface="Arial"/>
              </a:defRPr>
            </a:lvl3pPr>
            <a:lvl4pPr>
              <a:defRPr sz="3450" b="1">
                <a:solidFill>
                  <a:srgbClr val="F8F8F2"/>
                </a:solidFill>
                <a:latin typeface="Arial"/>
                <a:ea typeface="Arial"/>
                <a:cs typeface="Arial"/>
              </a:defRPr>
            </a:lvl4pPr>
            <a:lvl5pPr>
              <a:defRPr sz="3450" b="1">
                <a:solidFill>
                  <a:srgbClr val="F8F8F2"/>
                </a:solidFill>
                <a:latin typeface="Arial"/>
                <a:ea typeface="Arial"/>
                <a:cs typeface="Arial"/>
              </a:defRPr>
            </a:lvl5pPr>
            <a:lvl6pPr>
              <a:defRPr sz="3450" b="1">
                <a:solidFill>
                  <a:srgbClr val="F8F8F2"/>
                </a:solidFill>
                <a:latin typeface="Arial"/>
                <a:ea typeface="Arial"/>
                <a:cs typeface="Arial"/>
              </a:defRPr>
            </a:lvl6pPr>
            <a:lvl7pPr>
              <a:defRPr sz="3450" b="1">
                <a:solidFill>
                  <a:srgbClr val="F8F8F2"/>
                </a:solidFill>
                <a:latin typeface="Arial"/>
                <a:ea typeface="Arial"/>
                <a:cs typeface="Arial"/>
              </a:defRPr>
            </a:lvl7pPr>
            <a:lvl8pPr>
              <a:defRPr sz="3450" b="1">
                <a:solidFill>
                  <a:srgbClr val="F8F8F2"/>
                </a:solidFill>
                <a:latin typeface="Arial"/>
                <a:ea typeface="Arial"/>
                <a:cs typeface="Arial"/>
              </a:defRPr>
            </a:lvl8pPr>
            <a:lvl9pPr>
              <a:defRPr sz="3450" b="1">
                <a:solidFill>
                  <a:srgbClr val="F8F8F2"/>
                </a:solidFill>
                <a:latin typeface="Arial"/>
                <a:ea typeface="Arial"/>
                <a:cs typeface="Arial"/>
              </a:defRPr>
            </a:lvl9pPr>
          </a:lstStyle>
          <a:p xmlns:a="http://schemas.openxmlformats.org/drawingml/2006/main">
            <a:pPr>
              <a:defRPr sz="3450" b="1">
                <a:solidFill>
                  <a:srgbClr val="F8F8F2"/>
                </a:solidFill>
                <a:latin typeface="Arial"/>
                <a:ea typeface="Arial"/>
                <a:cs typeface="Arial"/>
              </a:defRPr>
            </a:pPr>
            <a:r>
              <a:rPr sz="3450" b="1">
                <a:solidFill>
                  <a:srgbClr val="F8F8F2"/>
                </a:solidFill>
                <a:latin typeface="Arial"/>
                <a:ea typeface="Arial"/>
                <a:cs typeface="Arial"/>
              </a:rPr>
              <a:t>Feedback a student can point to</a:t>
            </a:r>
          </a:p>
        </p:txBody>
      </p:sp>
      <p:sp>
        <p:nvSpPr>
          <p:cNvPr id="2" name="">
            <a:extLst xmlns:a="http://schemas.openxmlformats.org/drawingml/2006/main">
              <a:ext uri="{FF2B5EF4-FFF2-40B4-BE49-F238E27FC236}">
                <a16:creationId xmlns:a16="http://schemas.microsoft.com/office/drawing/2014/main" id="{92BC332B-CB17-4BC5-8520-46C38FD0D29E}"/>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DCE7D3"/>
                </a:solidFill>
                <a:latin typeface="Arial"/>
                <a:ea typeface="Arial"/>
                <a:cs typeface="Arial"/>
              </a:defRPr>
            </a:defPPr>
            <a:lvl1pPr>
              <a:defRPr sz="1125" b="0">
                <a:solidFill>
                  <a:srgbClr val="DCE7D3"/>
                </a:solidFill>
                <a:latin typeface="Arial"/>
                <a:ea typeface="Arial"/>
                <a:cs typeface="Arial"/>
              </a:defRPr>
            </a:lvl1pPr>
            <a:lvl2pPr>
              <a:defRPr sz="1125" b="0">
                <a:solidFill>
                  <a:srgbClr val="DCE7D3"/>
                </a:solidFill>
                <a:latin typeface="Arial"/>
                <a:ea typeface="Arial"/>
                <a:cs typeface="Arial"/>
              </a:defRPr>
            </a:lvl2pPr>
            <a:lvl3pPr>
              <a:defRPr sz="1125" b="0">
                <a:solidFill>
                  <a:srgbClr val="DCE7D3"/>
                </a:solidFill>
                <a:latin typeface="Arial"/>
                <a:ea typeface="Arial"/>
                <a:cs typeface="Arial"/>
              </a:defRPr>
            </a:lvl3pPr>
            <a:lvl4pPr>
              <a:defRPr sz="1125" b="0">
                <a:solidFill>
                  <a:srgbClr val="DCE7D3"/>
                </a:solidFill>
                <a:latin typeface="Arial"/>
                <a:ea typeface="Arial"/>
                <a:cs typeface="Arial"/>
              </a:defRPr>
            </a:lvl4pPr>
            <a:lvl5pPr>
              <a:defRPr sz="1125" b="0">
                <a:solidFill>
                  <a:srgbClr val="DCE7D3"/>
                </a:solidFill>
                <a:latin typeface="Arial"/>
                <a:ea typeface="Arial"/>
                <a:cs typeface="Arial"/>
              </a:defRPr>
            </a:lvl5pPr>
            <a:lvl6pPr>
              <a:defRPr sz="1125" b="0">
                <a:solidFill>
                  <a:srgbClr val="DCE7D3"/>
                </a:solidFill>
                <a:latin typeface="Arial"/>
                <a:ea typeface="Arial"/>
                <a:cs typeface="Arial"/>
              </a:defRPr>
            </a:lvl6pPr>
            <a:lvl7pPr>
              <a:defRPr sz="1125" b="0">
                <a:solidFill>
                  <a:srgbClr val="DCE7D3"/>
                </a:solidFill>
                <a:latin typeface="Arial"/>
                <a:ea typeface="Arial"/>
                <a:cs typeface="Arial"/>
              </a:defRPr>
            </a:lvl7pPr>
            <a:lvl8pPr>
              <a:defRPr sz="1125" b="0">
                <a:solidFill>
                  <a:srgbClr val="DCE7D3"/>
                </a:solidFill>
                <a:latin typeface="Arial"/>
                <a:ea typeface="Arial"/>
                <a:cs typeface="Arial"/>
              </a:defRPr>
            </a:lvl8pPr>
            <a:lvl9pPr>
              <a:defRPr sz="1125" b="0">
                <a:solidFill>
                  <a:srgbClr val="DCE7D3"/>
                </a:solidFill>
                <a:latin typeface="Arial"/>
                <a:ea typeface="Arial"/>
                <a:cs typeface="Arial"/>
              </a:defRPr>
            </a:lvl9pPr>
          </a:lstStyle>
          <a:p xmlns:a="http://schemas.openxmlformats.org/drawingml/2006/main">
            <a:pPr>
              <a:defRPr sz="1125" b="0">
                <a:solidFill>
                  <a:srgbClr val="DCE7D3"/>
                </a:solidFill>
                <a:latin typeface="Arial"/>
                <a:ea typeface="Arial"/>
                <a:cs typeface="Arial"/>
              </a:defRPr>
            </a:pPr>
            <a:r>
              <a:rPr sz="1125" b="0">
                <a:solidFill>
                  <a:srgbClr val="DCE7D3"/>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FAE00198-1E73-4C80-B91A-1B2DE20A5732}"/>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DCE7D3"/>
                </a:solidFill>
                <a:latin typeface="Arial"/>
                <a:ea typeface="Arial"/>
                <a:cs typeface="Arial"/>
              </a:defRPr>
            </a:defPPr>
            <a:lvl1pPr>
              <a:defRPr sz="1125" b="0">
                <a:solidFill>
                  <a:srgbClr val="DCE7D3"/>
                </a:solidFill>
                <a:latin typeface="Arial"/>
                <a:ea typeface="Arial"/>
                <a:cs typeface="Arial"/>
              </a:defRPr>
            </a:lvl1pPr>
            <a:lvl2pPr>
              <a:defRPr sz="1125" b="0">
                <a:solidFill>
                  <a:srgbClr val="DCE7D3"/>
                </a:solidFill>
                <a:latin typeface="Arial"/>
                <a:ea typeface="Arial"/>
                <a:cs typeface="Arial"/>
              </a:defRPr>
            </a:lvl2pPr>
            <a:lvl3pPr>
              <a:defRPr sz="1125" b="0">
                <a:solidFill>
                  <a:srgbClr val="DCE7D3"/>
                </a:solidFill>
                <a:latin typeface="Arial"/>
                <a:ea typeface="Arial"/>
                <a:cs typeface="Arial"/>
              </a:defRPr>
            </a:lvl3pPr>
            <a:lvl4pPr>
              <a:defRPr sz="1125" b="0">
                <a:solidFill>
                  <a:srgbClr val="DCE7D3"/>
                </a:solidFill>
                <a:latin typeface="Arial"/>
                <a:ea typeface="Arial"/>
                <a:cs typeface="Arial"/>
              </a:defRPr>
            </a:lvl4pPr>
            <a:lvl5pPr>
              <a:defRPr sz="1125" b="0">
                <a:solidFill>
                  <a:srgbClr val="DCE7D3"/>
                </a:solidFill>
                <a:latin typeface="Arial"/>
                <a:ea typeface="Arial"/>
                <a:cs typeface="Arial"/>
              </a:defRPr>
            </a:lvl5pPr>
            <a:lvl6pPr>
              <a:defRPr sz="1125" b="0">
                <a:solidFill>
                  <a:srgbClr val="DCE7D3"/>
                </a:solidFill>
                <a:latin typeface="Arial"/>
                <a:ea typeface="Arial"/>
                <a:cs typeface="Arial"/>
              </a:defRPr>
            </a:lvl6pPr>
            <a:lvl7pPr>
              <a:defRPr sz="1125" b="0">
                <a:solidFill>
                  <a:srgbClr val="DCE7D3"/>
                </a:solidFill>
                <a:latin typeface="Arial"/>
                <a:ea typeface="Arial"/>
                <a:cs typeface="Arial"/>
              </a:defRPr>
            </a:lvl7pPr>
            <a:lvl8pPr>
              <a:defRPr sz="1125" b="0">
                <a:solidFill>
                  <a:srgbClr val="DCE7D3"/>
                </a:solidFill>
                <a:latin typeface="Arial"/>
                <a:ea typeface="Arial"/>
                <a:cs typeface="Arial"/>
              </a:defRPr>
            </a:lvl8pPr>
            <a:lvl9pPr>
              <a:defRPr sz="1125" b="0">
                <a:solidFill>
                  <a:srgbClr val="DCE7D3"/>
                </a:solidFill>
                <a:latin typeface="Arial"/>
                <a:ea typeface="Arial"/>
                <a:cs typeface="Arial"/>
              </a:defRPr>
            </a:lvl9pPr>
          </a:lstStyle>
          <a:p xmlns:a="http://schemas.openxmlformats.org/drawingml/2006/main">
            <a:pPr>
              <a:defRPr sz="1125" b="0">
                <a:solidFill>
                  <a:srgbClr val="DCE7D3"/>
                </a:solidFill>
                <a:latin typeface="Arial"/>
                <a:ea typeface="Arial"/>
                <a:cs typeface="Arial"/>
              </a:defRPr>
            </a:pPr>
            <a:r>
              <a:rPr sz="1125" b="0">
                <a:solidFill>
                  <a:srgbClr val="DCE7D3"/>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DCD027F-5BC2-47D8-BF33-6198E55D870C}"/>
              </a:ext>
            </a:extLst>
          </p:cNvPr>
          <p:cNvSpPr>
            <a:spLocks xmlns:a="http://schemas.openxmlformats.org/drawingml/2006/main" noGrp="1"/>
          </p:cNvSpPr>
          <p:nvPr/>
        </p:nvSpPr>
        <p:spPr>
          <a:xfrm xmlns:a="http://schemas.openxmlformats.org/drawingml/2006/main">
            <a:off x="609600" y="19526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75" b="1">
                <a:solidFill>
                  <a:srgbClr val="F8F8F2"/>
                </a:solidFill>
                <a:latin typeface="Arial"/>
                <a:ea typeface="Arial"/>
                <a:cs typeface="Arial"/>
              </a:defRPr>
            </a:defPPr>
            <a:lvl1pPr>
              <a:defRPr sz="3975" b="1">
                <a:solidFill>
                  <a:srgbClr val="F8F8F2"/>
                </a:solidFill>
                <a:latin typeface="Arial"/>
                <a:ea typeface="Arial"/>
                <a:cs typeface="Arial"/>
              </a:defRPr>
            </a:lvl1pPr>
            <a:lvl2pPr>
              <a:defRPr sz="3975" b="1">
                <a:solidFill>
                  <a:srgbClr val="F8F8F2"/>
                </a:solidFill>
                <a:latin typeface="Arial"/>
                <a:ea typeface="Arial"/>
                <a:cs typeface="Arial"/>
              </a:defRPr>
            </a:lvl2pPr>
            <a:lvl3pPr>
              <a:defRPr sz="3975" b="1">
                <a:solidFill>
                  <a:srgbClr val="F8F8F2"/>
                </a:solidFill>
                <a:latin typeface="Arial"/>
                <a:ea typeface="Arial"/>
                <a:cs typeface="Arial"/>
              </a:defRPr>
            </a:lvl3pPr>
            <a:lvl4pPr>
              <a:defRPr sz="3975" b="1">
                <a:solidFill>
                  <a:srgbClr val="F8F8F2"/>
                </a:solidFill>
                <a:latin typeface="Arial"/>
                <a:ea typeface="Arial"/>
                <a:cs typeface="Arial"/>
              </a:defRPr>
            </a:lvl4pPr>
            <a:lvl5pPr>
              <a:defRPr sz="3975" b="1">
                <a:solidFill>
                  <a:srgbClr val="F8F8F2"/>
                </a:solidFill>
                <a:latin typeface="Arial"/>
                <a:ea typeface="Arial"/>
                <a:cs typeface="Arial"/>
              </a:defRPr>
            </a:lvl5pPr>
            <a:lvl6pPr>
              <a:defRPr sz="3975" b="1">
                <a:solidFill>
                  <a:srgbClr val="F8F8F2"/>
                </a:solidFill>
                <a:latin typeface="Arial"/>
                <a:ea typeface="Arial"/>
                <a:cs typeface="Arial"/>
              </a:defRPr>
            </a:lvl6pPr>
            <a:lvl7pPr>
              <a:defRPr sz="3975" b="1">
                <a:solidFill>
                  <a:srgbClr val="F8F8F2"/>
                </a:solidFill>
                <a:latin typeface="Arial"/>
                <a:ea typeface="Arial"/>
                <a:cs typeface="Arial"/>
              </a:defRPr>
            </a:lvl7pPr>
            <a:lvl8pPr>
              <a:defRPr sz="3975" b="1">
                <a:solidFill>
                  <a:srgbClr val="F8F8F2"/>
                </a:solidFill>
                <a:latin typeface="Arial"/>
                <a:ea typeface="Arial"/>
                <a:cs typeface="Arial"/>
              </a:defRPr>
            </a:lvl8pPr>
            <a:lvl9pPr>
              <a:defRPr sz="3975" b="1">
                <a:solidFill>
                  <a:srgbClr val="F8F8F2"/>
                </a:solidFill>
                <a:latin typeface="Arial"/>
                <a:ea typeface="Arial"/>
                <a:cs typeface="Arial"/>
              </a:defRPr>
            </a:lvl9pPr>
          </a:lstStyle>
          <a:p xmlns:a="http://schemas.openxmlformats.org/drawingml/2006/main">
            <a:pPr>
              <a:defRPr sz="3975" b="1">
                <a:solidFill>
                  <a:srgbClr val="F8F8F2"/>
                </a:solidFill>
                <a:latin typeface="Arial"/>
                <a:ea typeface="Arial"/>
                <a:cs typeface="Arial"/>
              </a:defRPr>
            </a:pPr>
            <a:r>
              <a:rPr sz="3975" b="1">
                <a:solidFill>
                  <a:srgbClr val="F8F8F2"/>
                </a:solidFill>
                <a:latin typeface="Arial"/>
                <a:ea typeface="Arial"/>
                <a:cs typeface="Arial"/>
              </a:rPr>
              <a:t>“You selected tests on both sides</a:t>
            </a:r>
          </a:p>
          <a:p xmlns:a="http://schemas.openxmlformats.org/drawingml/2006/main">
            <a:pPr>
              <a:defRPr sz="3975" b="1">
                <a:solidFill>
                  <a:srgbClr val="F8F8F2"/>
                </a:solidFill>
                <a:latin typeface="Arial"/>
                <a:ea typeface="Arial"/>
                <a:cs typeface="Arial"/>
              </a:defRPr>
            </a:pPr>
            <a:r>
              <a:rPr sz="3975" b="1">
                <a:solidFill>
                  <a:srgbClr val="F8F8F2"/>
                </a:solidFill>
                <a:latin typeface="Arial"/>
                <a:ea typeface="Arial"/>
                <a:cs typeface="Arial"/>
              </a:rPr>
              <a:t>of the capacity boundary.”</a:t>
            </a:r>
          </a:p>
        </p:txBody>
      </p:sp>
      <p:sp>
        <p:nvSpPr>
          <p:cNvPr id="5" name="">
            <a:extLst xmlns:a="http://schemas.openxmlformats.org/drawingml/2006/main">
              <a:ext uri="{FF2B5EF4-FFF2-40B4-BE49-F238E27FC236}">
                <a16:creationId xmlns:a16="http://schemas.microsoft.com/office/drawing/2014/main" id="{BA52348F-EF16-4F6D-AF1E-452E33A3B4D3}"/>
              </a:ext>
            </a:extLst>
          </p:cNvPr>
          <p:cNvSpPr>
            <a:spLocks xmlns:a="http://schemas.openxmlformats.org/drawingml/2006/main" noGrp="1"/>
          </p:cNvSpPr>
          <p:nvPr/>
        </p:nvSpPr>
        <p:spPr>
          <a:xfrm xmlns:a="http://schemas.openxmlformats.org/drawingml/2006/main">
            <a:off x="609600" y="40005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DCE7D3"/>
                </a:solidFill>
                <a:latin typeface="Arial"/>
                <a:ea typeface="Arial"/>
                <a:cs typeface="Arial"/>
              </a:defRPr>
            </a:defPPr>
            <a:lvl1pPr>
              <a:defRPr sz="2250" b="0">
                <a:solidFill>
                  <a:srgbClr val="DCE7D3"/>
                </a:solidFill>
                <a:latin typeface="Arial"/>
                <a:ea typeface="Arial"/>
                <a:cs typeface="Arial"/>
              </a:defRPr>
            </a:lvl1pPr>
            <a:lvl2pPr>
              <a:defRPr sz="2250" b="0">
                <a:solidFill>
                  <a:srgbClr val="DCE7D3"/>
                </a:solidFill>
                <a:latin typeface="Arial"/>
                <a:ea typeface="Arial"/>
                <a:cs typeface="Arial"/>
              </a:defRPr>
            </a:lvl2pPr>
            <a:lvl3pPr>
              <a:defRPr sz="2250" b="0">
                <a:solidFill>
                  <a:srgbClr val="DCE7D3"/>
                </a:solidFill>
                <a:latin typeface="Arial"/>
                <a:ea typeface="Arial"/>
                <a:cs typeface="Arial"/>
              </a:defRPr>
            </a:lvl3pPr>
            <a:lvl4pPr>
              <a:defRPr sz="2250" b="0">
                <a:solidFill>
                  <a:srgbClr val="DCE7D3"/>
                </a:solidFill>
                <a:latin typeface="Arial"/>
                <a:ea typeface="Arial"/>
                <a:cs typeface="Arial"/>
              </a:defRPr>
            </a:lvl4pPr>
            <a:lvl5pPr>
              <a:defRPr sz="2250" b="0">
                <a:solidFill>
                  <a:srgbClr val="DCE7D3"/>
                </a:solidFill>
                <a:latin typeface="Arial"/>
                <a:ea typeface="Arial"/>
                <a:cs typeface="Arial"/>
              </a:defRPr>
            </a:lvl5pPr>
            <a:lvl6pPr>
              <a:defRPr sz="2250" b="0">
                <a:solidFill>
                  <a:srgbClr val="DCE7D3"/>
                </a:solidFill>
                <a:latin typeface="Arial"/>
                <a:ea typeface="Arial"/>
                <a:cs typeface="Arial"/>
              </a:defRPr>
            </a:lvl6pPr>
            <a:lvl7pPr>
              <a:defRPr sz="2250" b="0">
                <a:solidFill>
                  <a:srgbClr val="DCE7D3"/>
                </a:solidFill>
                <a:latin typeface="Arial"/>
                <a:ea typeface="Arial"/>
                <a:cs typeface="Arial"/>
              </a:defRPr>
            </a:lvl7pPr>
            <a:lvl8pPr>
              <a:defRPr sz="2250" b="0">
                <a:solidFill>
                  <a:srgbClr val="DCE7D3"/>
                </a:solidFill>
                <a:latin typeface="Arial"/>
                <a:ea typeface="Arial"/>
                <a:cs typeface="Arial"/>
              </a:defRPr>
            </a:lvl8pPr>
            <a:lvl9pPr>
              <a:defRPr sz="2250" b="0">
                <a:solidFill>
                  <a:srgbClr val="DCE7D3"/>
                </a:solidFill>
                <a:latin typeface="Arial"/>
                <a:ea typeface="Arial"/>
                <a:cs typeface="Arial"/>
              </a:defRPr>
            </a:lvl9pPr>
          </a:lstStyle>
          <a:p xmlns:a="http://schemas.openxmlformats.org/drawingml/2006/main">
            <a:pPr>
              <a:defRPr sz="2250" b="0">
                <a:solidFill>
                  <a:srgbClr val="DCE7D3"/>
                </a:solidFill>
                <a:latin typeface="Arial"/>
                <a:ea typeface="Arial"/>
                <a:cs typeface="Arial"/>
              </a:defRPr>
            </a:pPr>
            <a:r>
              <a:rPr sz="2250" b="0">
                <a:solidFill>
                  <a:srgbClr val="DCE7D3"/>
                </a:solidFill>
                <a:latin typeface="Arial"/>
                <a:ea typeface="Arial"/>
                <a:cs typeface="Arial"/>
              </a:rPr>
              <a:t>Evidence: the student chose 29, 30, and 31 as test cases.</a:t>
            </a:r>
          </a:p>
        </p:txBody>
      </p:sp>
      <p:sp>
        <p:nvSpPr>
          <p:cNvPr id="6" name="">
            <a:extLst xmlns:a="http://schemas.openxmlformats.org/drawingml/2006/main">
              <a:ext uri="{FF2B5EF4-FFF2-40B4-BE49-F238E27FC236}">
                <a16:creationId xmlns:a16="http://schemas.microsoft.com/office/drawing/2014/main" id="{BB35C071-D5D9-4297-A472-70ED22C05106}"/>
              </a:ext>
            </a:extLst>
          </p:cNvPr>
          <p:cNvSpPr>
            <a:spLocks xmlns:a="http://schemas.openxmlformats.org/drawingml/2006/main" noGrp="1"/>
          </p:cNvSpPr>
          <p:nvPr/>
        </p:nvSpPr>
        <p:spPr>
          <a:xfrm xmlns:a="http://schemas.openxmlformats.org/drawingml/2006/main">
            <a:off x="609600" y="5095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DCE7D3"/>
                </a:solidFill>
                <a:latin typeface="Arial"/>
                <a:ea typeface="Arial"/>
                <a:cs typeface="Arial"/>
              </a:defRPr>
            </a:defPPr>
            <a:lvl1pPr>
              <a:defRPr sz="2175" b="0">
                <a:solidFill>
                  <a:srgbClr val="DCE7D3"/>
                </a:solidFill>
                <a:latin typeface="Arial"/>
                <a:ea typeface="Arial"/>
                <a:cs typeface="Arial"/>
              </a:defRPr>
            </a:lvl1pPr>
            <a:lvl2pPr>
              <a:defRPr sz="2175" b="0">
                <a:solidFill>
                  <a:srgbClr val="DCE7D3"/>
                </a:solidFill>
                <a:latin typeface="Arial"/>
                <a:ea typeface="Arial"/>
                <a:cs typeface="Arial"/>
              </a:defRPr>
            </a:lvl2pPr>
            <a:lvl3pPr>
              <a:defRPr sz="2175" b="0">
                <a:solidFill>
                  <a:srgbClr val="DCE7D3"/>
                </a:solidFill>
                <a:latin typeface="Arial"/>
                <a:ea typeface="Arial"/>
                <a:cs typeface="Arial"/>
              </a:defRPr>
            </a:lvl3pPr>
            <a:lvl4pPr>
              <a:defRPr sz="2175" b="0">
                <a:solidFill>
                  <a:srgbClr val="DCE7D3"/>
                </a:solidFill>
                <a:latin typeface="Arial"/>
                <a:ea typeface="Arial"/>
                <a:cs typeface="Arial"/>
              </a:defRPr>
            </a:lvl4pPr>
            <a:lvl5pPr>
              <a:defRPr sz="2175" b="0">
                <a:solidFill>
                  <a:srgbClr val="DCE7D3"/>
                </a:solidFill>
                <a:latin typeface="Arial"/>
                <a:ea typeface="Arial"/>
                <a:cs typeface="Arial"/>
              </a:defRPr>
            </a:lvl5pPr>
            <a:lvl6pPr>
              <a:defRPr sz="2175" b="0">
                <a:solidFill>
                  <a:srgbClr val="DCE7D3"/>
                </a:solidFill>
                <a:latin typeface="Arial"/>
                <a:ea typeface="Arial"/>
                <a:cs typeface="Arial"/>
              </a:defRPr>
            </a:lvl6pPr>
            <a:lvl7pPr>
              <a:defRPr sz="2175" b="0">
                <a:solidFill>
                  <a:srgbClr val="DCE7D3"/>
                </a:solidFill>
                <a:latin typeface="Arial"/>
                <a:ea typeface="Arial"/>
                <a:cs typeface="Arial"/>
              </a:defRPr>
            </a:lvl7pPr>
            <a:lvl8pPr>
              <a:defRPr sz="2175" b="0">
                <a:solidFill>
                  <a:srgbClr val="DCE7D3"/>
                </a:solidFill>
                <a:latin typeface="Arial"/>
                <a:ea typeface="Arial"/>
                <a:cs typeface="Arial"/>
              </a:defRPr>
            </a:lvl8pPr>
            <a:lvl9pPr>
              <a:defRPr sz="2175" b="0">
                <a:solidFill>
                  <a:srgbClr val="DCE7D3"/>
                </a:solidFill>
                <a:latin typeface="Arial"/>
                <a:ea typeface="Arial"/>
                <a:cs typeface="Arial"/>
              </a:defRPr>
            </a:lvl9pPr>
          </a:lstStyle>
          <a:p xmlns:a="http://schemas.openxmlformats.org/drawingml/2006/main">
            <a:pPr>
              <a:defRPr sz="2175" b="0">
                <a:solidFill>
                  <a:srgbClr val="DCE7D3"/>
                </a:solidFill>
                <a:latin typeface="Arial"/>
                <a:ea typeface="Arial"/>
                <a:cs typeface="Arial"/>
              </a:defRPr>
            </a:pPr>
            <a:r>
              <a:rPr sz="2175" b="0">
                <a:solidFill>
                  <a:srgbClr val="DCE7D3"/>
                </a:solidFill>
                <a:latin typeface="Arial"/>
                <a:ea typeface="Arial"/>
                <a:cs typeface="Arial"/>
              </a:rPr>
              <a:t>Next stretch: explain which new evidence would change the solution.</a:t>
            </a:r>
          </a:p>
        </p:txBody>
      </p:sp>
    </p:spTree>
    <p:extLst>
      <p:ext uri="{BB962C8B-B14F-4D97-AF65-F5344CB8AC3E}">
        <p14:creationId xmlns:p14="http://schemas.microsoft.com/office/powerpoint/2010/main" val="1230487665"/>
      </p:ext>
    </p:extLst>
  </p:cSld>
</p:sld>
</file>

<file path=ppt/slides/slide8.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4AED64-71FA-482E-8C7F-D94133713ADB}"/>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The questionnaire starts the exploration</a:t>
            </a:r>
          </a:p>
        </p:txBody>
      </p:sp>
      <p:sp>
        <p:nvSpPr>
          <p:cNvPr id="2" name="">
            <a:extLst xmlns:a="http://schemas.openxmlformats.org/drawingml/2006/main">
              <a:ext uri="{FF2B5EF4-FFF2-40B4-BE49-F238E27FC236}">
                <a16:creationId xmlns:a16="http://schemas.microsoft.com/office/drawing/2014/main" id="{559BA2DA-4ED0-42AD-AEBC-E959967BDB34}"/>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BB52CE66-5982-486E-947C-46553C9AD035}"/>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12937389-DA81-45FD-A540-7C13916A42EF}"/>
              </a:ext>
            </a:extLst>
          </p:cNvPr>
          <p:cNvGraphicFramePr/>
          <p:nvPr/>
        </p:nvGraphicFramePr>
        <p:xfrm>
          <a:off xmlns:a="http://schemas.openxmlformats.org/drawingml/2006/main" x="609600" y="1905000"/>
          <a:ext xmlns:a="http://schemas.openxmlformats.org/drawingml/2006/main" cx="10972800" cy="3333750"/>
        </p:xfrm>
        <a:graphic xmlns:a="http://schemas.openxmlformats.org/drawingml/2006/main">
          <a:graphicData uri="http://schemas.openxmlformats.org/drawingml/2006/table">
            <a:tbl>
              <a:tblPr/>
              <a:tblGrid>
                <a:gridCol w="3000375"/>
                <a:gridCol w="3810000"/>
                <a:gridCol w="4162425"/>
              </a:tblGrid>
              <a:tr h="619125">
                <a:tc>
                  <a:txBody>
                    <a:bodyPr lIns="133350" tIns="133350" rIns="133350" bIns="133350"/>
                    <a:lstStyle/>
                    <a:p>
                      <a:r>
                        <a:rPr sz="1725" b="1">
                          <a:solidFill>
                            <a:srgbClr val="F8F8F2"/>
                          </a:solidFill>
                          <a:latin typeface="Arial"/>
                          <a:ea typeface="Arial"/>
                          <a:cs typeface="Arial"/>
                        </a:rPr>
                        <a:t>Product layer</a:t>
                      </a:r>
                    </a:p>
                  </a:txBody>
                  <a:tcPr marL="91440" marR="91440" marT="45720" marB="45720">
                    <a:solidFill>
                      <a:srgbClr val="294E3E"/>
                    </a:solidFill>
                  </a:tcPr>
                </a:tc>
                <a:tc>
                  <a:txBody>
                    <a:bodyPr lIns="133350" tIns="133350" rIns="133350" bIns="133350"/>
                    <a:lstStyle/>
                    <a:p>
                      <a:r>
                        <a:rPr sz="1725" b="1">
                          <a:solidFill>
                            <a:srgbClr val="F8F8F2"/>
                          </a:solidFill>
                          <a:latin typeface="Arial"/>
                          <a:ea typeface="Arial"/>
                          <a:cs typeface="Arial"/>
                        </a:rPr>
                        <a:t>Signal it captures</a:t>
                      </a:r>
                    </a:p>
                  </a:txBody>
                  <a:tcPr marL="91440" marR="91440" marT="45720" marB="45720">
                    <a:solidFill>
                      <a:srgbClr val="294E3E"/>
                    </a:solidFill>
                  </a:tcPr>
                </a:tc>
                <a:tc>
                  <a:txBody>
                    <a:bodyPr lIns="133350" tIns="133350" rIns="133350" bIns="133350"/>
                    <a:lstStyle/>
                    <a:p>
                      <a:r>
                        <a:rPr sz="1725" b="1">
                          <a:solidFill>
                            <a:srgbClr val="F8F8F2"/>
                          </a:solidFill>
                          <a:latin typeface="Arial"/>
                          <a:ea typeface="Arial"/>
                          <a:cs typeface="Arial"/>
                        </a:rPr>
                        <a:t>How students use it</a:t>
                      </a:r>
                    </a:p>
                  </a:txBody>
                  <a:tcPr marL="91440" marR="91440" marT="45720" marB="45720">
                    <a:solidFill>
                      <a:srgbClr val="294E3E"/>
                    </a:solidFill>
                  </a:tcPr>
                </a:tc>
              </a:tr>
              <a:tr h="904875">
                <a:tc>
                  <a:txBody>
                    <a:bodyPr lIns="133350" tIns="133350" rIns="133350" bIns="133350"/>
                    <a:lstStyle/>
                    <a:p>
                      <a:r>
                        <a:rPr sz="1800" b="0">
                          <a:solidFill>
                            <a:srgbClr val="253A31"/>
                          </a:solidFill>
                          <a:latin typeface="Arial"/>
                          <a:ea typeface="Arial"/>
                          <a:cs typeface="Arial"/>
                        </a:rPr>
                        <a:t>Interest explorer</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What sounds engaging</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Choose a direction to try</a:t>
                      </a:r>
                    </a:p>
                  </a:txBody>
                  <a:tcPr marL="91440" marR="91440" marT="45720" marB="45720">
                    <a:solidFill>
                      <a:srgbClr val="EFF2E8"/>
                    </a:solidFill>
                  </a:tcPr>
                </a:tc>
              </a:tr>
              <a:tr h="904875">
                <a:tc>
                  <a:txBody>
                    <a:bodyPr lIns="133350" tIns="133350" rIns="133350" bIns="133350"/>
                    <a:lstStyle/>
                    <a:p>
                      <a:r>
                        <a:rPr sz="1800" b="0">
                          <a:solidFill>
                            <a:srgbClr val="253A31"/>
                          </a:solidFill>
                          <a:latin typeface="Arial"/>
                          <a:ea typeface="Arial"/>
                          <a:cs typeface="Arial"/>
                        </a:rPr>
                        <a:t>Career mission</a:t>
                      </a:r>
                    </a:p>
                  </a:txBody>
                  <a:tcPr marL="91440" marR="91440" marT="45720" marB="45720">
                    <a:solidFill>
                      <a:srgbClr val="F8F8F2"/>
                    </a:solidFill>
                  </a:tcPr>
                </a:tc>
                <a:tc>
                  <a:txBody>
                    <a:bodyPr lIns="133350" tIns="133350" rIns="133350" bIns="133350"/>
                    <a:lstStyle/>
                    <a:p>
                      <a:r>
                        <a:rPr sz="1800" b="0">
                          <a:solidFill>
                            <a:srgbClr val="253A31"/>
                          </a:solidFill>
                          <a:latin typeface="Arial"/>
                          <a:ea typeface="Arial"/>
                          <a:cs typeface="Arial"/>
                        </a:rPr>
                        <a:t>Choices and reasoning</a:t>
                      </a:r>
                    </a:p>
                  </a:txBody>
                  <a:tcPr marL="91440" marR="91440" marT="45720" marB="45720">
                    <a:solidFill>
                      <a:srgbClr val="F8F8F2"/>
                    </a:solidFill>
                  </a:tcPr>
                </a:tc>
                <a:tc>
                  <a:txBody>
                    <a:bodyPr lIns="133350" tIns="133350" rIns="133350" bIns="133350"/>
                    <a:lstStyle/>
                    <a:p>
                      <a:r>
                        <a:rPr sz="1800" b="0">
                          <a:solidFill>
                            <a:srgbClr val="253A31"/>
                          </a:solidFill>
                          <a:latin typeface="Arial"/>
                          <a:ea typeface="Arial"/>
                          <a:cs typeface="Arial"/>
                        </a:rPr>
                        <a:t>See evidence from the task</a:t>
                      </a:r>
                    </a:p>
                  </a:txBody>
                  <a:tcPr marL="91440" marR="91440" marT="45720" marB="45720">
                    <a:solidFill>
                      <a:srgbClr val="F8F8F2"/>
                    </a:solidFill>
                  </a:tcPr>
                </a:tc>
              </a:tr>
              <a:tr h="904875">
                <a:tc>
                  <a:txBody>
                    <a:bodyPr lIns="133350" tIns="133350" rIns="133350" bIns="133350"/>
                    <a:lstStyle/>
                    <a:p>
                      <a:r>
                        <a:rPr sz="1800" b="0">
                          <a:solidFill>
                            <a:srgbClr val="253A31"/>
                          </a:solidFill>
                          <a:latin typeface="Arial"/>
                          <a:ea typeface="Arial"/>
                          <a:cs typeface="Arial"/>
                        </a:rPr>
                        <a:t>Reflection and plan</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Enjoyment and next questions</a:t>
                      </a:r>
                    </a:p>
                  </a:txBody>
                  <a:tcPr marL="91440" marR="91440" marT="45720" marB="45720">
                    <a:solidFill>
                      <a:srgbClr val="EFF2E8"/>
                    </a:solidFill>
                  </a:tcPr>
                </a:tc>
                <a:tc>
                  <a:txBody>
                    <a:bodyPr lIns="133350" tIns="133350" rIns="133350" bIns="133350"/>
                    <a:lstStyle/>
                    <a:p>
                      <a:r>
                        <a:rPr sz="1800" b="0">
                          <a:solidFill>
                            <a:srgbClr val="253A31"/>
                          </a:solidFill>
                          <a:latin typeface="Arial"/>
                          <a:ea typeface="Arial"/>
                          <a:cs typeface="Arial"/>
                        </a:rPr>
                        <a:t>Decide what to try next</a:t>
                      </a:r>
                    </a:p>
                  </a:txBody>
                  <a:tcPr marL="91440" marR="91440" marT="45720" marB="45720">
                    <a:solidFill>
                      <a:srgbClr val="EFF2E8"/>
                    </a:solidFill>
                  </a:tcPr>
                </a:tc>
              </a:tr>
            </a:tbl>
          </a:graphicData>
        </a:graphic>
      </p:graphicFrame>
      <p:sp>
        <p:nvSpPr>
          <p:cNvPr id="5" name="">
            <a:extLst xmlns:a="http://schemas.openxmlformats.org/drawingml/2006/main">
              <a:ext uri="{FF2B5EF4-FFF2-40B4-BE49-F238E27FC236}">
                <a16:creationId xmlns:a16="http://schemas.microsoft.com/office/drawing/2014/main" id="{4681B8FA-EF01-4FBC-8606-D3459FBEC7AB}"/>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94E3E"/>
                </a:solidFill>
                <a:latin typeface="Arial"/>
                <a:ea typeface="Arial"/>
                <a:cs typeface="Arial"/>
              </a:defRPr>
            </a:defPPr>
            <a:lvl1pPr>
              <a:defRPr sz="2325" b="1">
                <a:solidFill>
                  <a:srgbClr val="294E3E"/>
                </a:solidFill>
                <a:latin typeface="Arial"/>
                <a:ea typeface="Arial"/>
                <a:cs typeface="Arial"/>
              </a:defRPr>
            </a:lvl1pPr>
            <a:lvl2pPr>
              <a:defRPr sz="2325" b="1">
                <a:solidFill>
                  <a:srgbClr val="294E3E"/>
                </a:solidFill>
                <a:latin typeface="Arial"/>
                <a:ea typeface="Arial"/>
                <a:cs typeface="Arial"/>
              </a:defRPr>
            </a:lvl2pPr>
            <a:lvl3pPr>
              <a:defRPr sz="2325" b="1">
                <a:solidFill>
                  <a:srgbClr val="294E3E"/>
                </a:solidFill>
                <a:latin typeface="Arial"/>
                <a:ea typeface="Arial"/>
                <a:cs typeface="Arial"/>
              </a:defRPr>
            </a:lvl3pPr>
            <a:lvl4pPr>
              <a:defRPr sz="2325" b="1">
                <a:solidFill>
                  <a:srgbClr val="294E3E"/>
                </a:solidFill>
                <a:latin typeface="Arial"/>
                <a:ea typeface="Arial"/>
                <a:cs typeface="Arial"/>
              </a:defRPr>
            </a:lvl4pPr>
            <a:lvl5pPr>
              <a:defRPr sz="2325" b="1">
                <a:solidFill>
                  <a:srgbClr val="294E3E"/>
                </a:solidFill>
                <a:latin typeface="Arial"/>
                <a:ea typeface="Arial"/>
                <a:cs typeface="Arial"/>
              </a:defRPr>
            </a:lvl5pPr>
            <a:lvl6pPr>
              <a:defRPr sz="2325" b="1">
                <a:solidFill>
                  <a:srgbClr val="294E3E"/>
                </a:solidFill>
                <a:latin typeface="Arial"/>
                <a:ea typeface="Arial"/>
                <a:cs typeface="Arial"/>
              </a:defRPr>
            </a:lvl6pPr>
            <a:lvl7pPr>
              <a:defRPr sz="2325" b="1">
                <a:solidFill>
                  <a:srgbClr val="294E3E"/>
                </a:solidFill>
                <a:latin typeface="Arial"/>
                <a:ea typeface="Arial"/>
                <a:cs typeface="Arial"/>
              </a:defRPr>
            </a:lvl7pPr>
            <a:lvl8pPr>
              <a:defRPr sz="2325" b="1">
                <a:solidFill>
                  <a:srgbClr val="294E3E"/>
                </a:solidFill>
                <a:latin typeface="Arial"/>
                <a:ea typeface="Arial"/>
                <a:cs typeface="Arial"/>
              </a:defRPr>
            </a:lvl8pPr>
            <a:lvl9pPr>
              <a:defRPr sz="2325" b="1">
                <a:solidFill>
                  <a:srgbClr val="294E3E"/>
                </a:solidFill>
                <a:latin typeface="Arial"/>
                <a:ea typeface="Arial"/>
                <a:cs typeface="Arial"/>
              </a:defRPr>
            </a:lvl9pPr>
          </a:lstStyle>
          <a:p xmlns:a="http://schemas.openxmlformats.org/drawingml/2006/main">
            <a:pPr>
              <a:defRPr sz="2325" b="1">
                <a:solidFill>
                  <a:srgbClr val="294E3E"/>
                </a:solidFill>
                <a:latin typeface="Arial"/>
                <a:ea typeface="Arial"/>
                <a:cs typeface="Arial"/>
              </a:defRPr>
            </a:pPr>
            <a:r>
              <a:rPr sz="2325" b="1">
                <a:solidFill>
                  <a:srgbClr val="294E3E"/>
                </a:solidFill>
                <a:latin typeface="Arial"/>
                <a:ea typeface="Arial"/>
                <a:cs typeface="Arial"/>
              </a:rPr>
              <a:t>The combination turns a career suggestion into a testable next step.</a:t>
            </a:r>
          </a:p>
        </p:txBody>
      </p:sp>
    </p:spTree>
    <p:extLst>
      <p:ext uri="{BB962C8B-B14F-4D97-AF65-F5344CB8AC3E}">
        <p14:creationId xmlns:p14="http://schemas.microsoft.com/office/powerpoint/2010/main" val="747490552"/>
      </p:ext>
    </p:extLst>
  </p:cSld>
</p:sld>
</file>

<file path=ppt/slides/slide9.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417666-D3CD-4B45-ADD1-1CBA0AAA8AA3}"/>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A clear boundary between today and next</a:t>
            </a:r>
          </a:p>
        </p:txBody>
      </p:sp>
      <p:sp>
        <p:nvSpPr>
          <p:cNvPr id="2" name="">
            <a:extLst xmlns:a="http://schemas.openxmlformats.org/drawingml/2006/main">
              <a:ext uri="{FF2B5EF4-FFF2-40B4-BE49-F238E27FC236}">
                <a16:creationId xmlns:a16="http://schemas.microsoft.com/office/drawing/2014/main" id="{1B73BAB0-00A3-416F-9773-02379B29C5B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96BCADE3-846D-4C3F-ACD7-0DED0281687C}"/>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78C0F6CD-B2AD-4A0D-9372-07BD8218EE90}"/>
              </a:ext>
            </a:extLst>
          </p:cNvPr>
          <p:cNvSpPr>
            <a:spLocks xmlns:a="http://schemas.openxmlformats.org/drawingml/2006/main" noGrp="1"/>
          </p:cNvSpPr>
          <p:nvPr/>
        </p:nvSpPr>
        <p:spPr>
          <a:xfrm xmlns:a="http://schemas.openxmlformats.org/drawingml/2006/main">
            <a:off x="609600" y="1857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WORKING TODAY</a:t>
            </a:r>
          </a:p>
        </p:txBody>
      </p:sp>
      <p:sp>
        <p:nvSpPr>
          <p:cNvPr id="5" name="">
            <a:extLst xmlns:a="http://schemas.openxmlformats.org/drawingml/2006/main">
              <a:ext uri="{FF2B5EF4-FFF2-40B4-BE49-F238E27FC236}">
                <a16:creationId xmlns:a16="http://schemas.microsoft.com/office/drawing/2014/main" id="{86CC4DE2-6A97-4F88-9B5A-7C698FAF3E90}"/>
              </a:ext>
            </a:extLst>
          </p:cNvPr>
          <p:cNvSpPr>
            <a:spLocks xmlns:a="http://schemas.openxmlformats.org/drawingml/2006/main" noGrp="1"/>
          </p:cNvSpPr>
          <p:nvPr/>
        </p:nvSpPr>
        <p:spPr>
          <a:xfrm xmlns:a="http://schemas.openxmlformats.org/drawingml/2006/main">
            <a:off x="6477000" y="1857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PLANNED AFTER PILOT</a:t>
            </a:r>
          </a:p>
        </p:txBody>
      </p:sp>
      <p:sp>
        <p:nvSpPr>
          <p:cNvPr id="6" name="">
            <a:extLst xmlns:a="http://schemas.openxmlformats.org/drawingml/2006/main">
              <a:ext uri="{FF2B5EF4-FFF2-40B4-BE49-F238E27FC236}">
                <a16:creationId xmlns:a16="http://schemas.microsoft.com/office/drawing/2014/main" id="{74F4EB83-CB4F-4F86-BB0A-D6F155FC251C}"/>
              </a:ext>
            </a:extLst>
          </p:cNvPr>
          <p:cNvSpPr>
            <a:spLocks xmlns:a="http://schemas.openxmlformats.org/drawingml/2006/main" noGrp="1"/>
          </p:cNvSpPr>
          <p:nvPr/>
        </p:nvSpPr>
        <p:spPr>
          <a:xfrm xmlns:a="http://schemas.openxmlformats.org/drawingml/2006/main">
            <a:off x="609600" y="23812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Transparent feedback</a:t>
            </a:r>
          </a:p>
        </p:txBody>
      </p:sp>
      <p:sp>
        <p:nvSpPr>
          <p:cNvPr id="7" name="">
            <a:extLst xmlns:a="http://schemas.openxmlformats.org/drawingml/2006/main">
              <a:ext uri="{FF2B5EF4-FFF2-40B4-BE49-F238E27FC236}">
                <a16:creationId xmlns:a16="http://schemas.microsoft.com/office/drawing/2014/main" id="{8C185676-60F2-437B-A24B-A7A535CB79E5}"/>
              </a:ext>
            </a:extLst>
          </p:cNvPr>
          <p:cNvSpPr>
            <a:spLocks xmlns:a="http://schemas.openxmlformats.org/drawingml/2006/main" noGrp="1"/>
          </p:cNvSpPr>
          <p:nvPr/>
        </p:nvSpPr>
        <p:spPr>
          <a:xfrm xmlns:a="http://schemas.openxmlformats.org/drawingml/2006/main">
            <a:off x="609600" y="30003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Authored rubrics connect feedback to task choices. Enjoyment stays separate.</a:t>
            </a:r>
          </a:p>
        </p:txBody>
      </p:sp>
      <p:sp>
        <p:nvSpPr>
          <p:cNvPr id="8" name="">
            <a:extLst xmlns:a="http://schemas.openxmlformats.org/drawingml/2006/main">
              <a:ext uri="{FF2B5EF4-FFF2-40B4-BE49-F238E27FC236}">
                <a16:creationId xmlns:a16="http://schemas.microsoft.com/office/drawing/2014/main" id="{DCEFB94B-6F28-44A5-87D1-E16B26815FE9}"/>
              </a:ext>
            </a:extLst>
          </p:cNvPr>
          <p:cNvSpPr>
            <a:spLocks xmlns:a="http://schemas.openxmlformats.org/drawingml/2006/main" noGrp="1"/>
          </p:cNvSpPr>
          <p:nvPr/>
        </p:nvSpPr>
        <p:spPr>
          <a:xfrm xmlns:a="http://schemas.openxmlformats.org/drawingml/2006/main">
            <a:off x="6477000" y="23812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AI-assisted feedback</a:t>
            </a:r>
          </a:p>
        </p:txBody>
      </p:sp>
      <p:sp>
        <p:nvSpPr>
          <p:cNvPr id="9" name="">
            <a:extLst xmlns:a="http://schemas.openxmlformats.org/drawingml/2006/main">
              <a:ext uri="{FF2B5EF4-FFF2-40B4-BE49-F238E27FC236}">
                <a16:creationId xmlns:a16="http://schemas.microsoft.com/office/drawing/2014/main" id="{7EEAB37B-CD68-44D2-A58C-DEF875BE520F}"/>
              </a:ext>
            </a:extLst>
          </p:cNvPr>
          <p:cNvSpPr>
            <a:spLocks xmlns:a="http://schemas.openxmlformats.org/drawingml/2006/main" noGrp="1"/>
          </p:cNvSpPr>
          <p:nvPr/>
        </p:nvSpPr>
        <p:spPr>
          <a:xfrm xmlns:a="http://schemas.openxmlformats.org/drawingml/2006/main">
            <a:off x="6477000" y="30003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 future backend could explain richer student work using reviewed rubrics.</a:t>
            </a:r>
          </a:p>
        </p:txBody>
      </p:sp>
      <p:sp>
        <p:nvSpPr>
          <p:cNvPr id="10" name="">
            <a:extLst xmlns:a="http://schemas.openxmlformats.org/drawingml/2006/main">
              <a:ext uri="{FF2B5EF4-FFF2-40B4-BE49-F238E27FC236}">
                <a16:creationId xmlns:a16="http://schemas.microsoft.com/office/drawing/2014/main" id="{3F028926-D72D-4834-9D15-AFED074C201A}"/>
              </a:ext>
            </a:extLst>
          </p:cNvPr>
          <p:cNvSpPr>
            <a:spLocks xmlns:a="http://schemas.openxmlformats.org/drawingml/2006/main" noGrp="1"/>
          </p:cNvSpPr>
          <p:nvPr/>
        </p:nvSpPr>
        <p:spPr>
          <a:xfrm xmlns:a="http://schemas.openxmlformats.org/drawingml/2006/main">
            <a:off x="609600" y="45243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Simple local progress</a:t>
            </a:r>
          </a:p>
        </p:txBody>
      </p:sp>
      <p:sp>
        <p:nvSpPr>
          <p:cNvPr id="11" name="">
            <a:extLst xmlns:a="http://schemas.openxmlformats.org/drawingml/2006/main">
              <a:ext uri="{FF2B5EF4-FFF2-40B4-BE49-F238E27FC236}">
                <a16:creationId xmlns:a16="http://schemas.microsoft.com/office/drawing/2014/main" id="{553BB686-F570-498C-9B3D-90722AE62ADB}"/>
              </a:ext>
            </a:extLst>
          </p:cNvPr>
          <p:cNvSpPr>
            <a:spLocks xmlns:a="http://schemas.openxmlformats.org/drawingml/2006/main" noGrp="1"/>
          </p:cNvSpPr>
          <p:nvPr/>
        </p:nvSpPr>
        <p:spPr>
          <a:xfrm xmlns:a="http://schemas.openxmlformats.org/drawingml/2006/main">
            <a:off x="609600" y="5143500"/>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Answers stay in the browser. The MVP needs no student account.</a:t>
            </a:r>
          </a:p>
        </p:txBody>
      </p:sp>
      <p:sp>
        <p:nvSpPr>
          <p:cNvPr id="12" name="">
            <a:extLst xmlns:a="http://schemas.openxmlformats.org/drawingml/2006/main">
              <a:ext uri="{FF2B5EF4-FFF2-40B4-BE49-F238E27FC236}">
                <a16:creationId xmlns:a16="http://schemas.microsoft.com/office/drawing/2014/main" id="{532EB2E3-9F8B-4775-9770-347C02F225A7}"/>
              </a:ext>
            </a:extLst>
          </p:cNvPr>
          <p:cNvSpPr>
            <a:spLocks xmlns:a="http://schemas.openxmlformats.org/drawingml/2006/main" noGrp="1"/>
          </p:cNvSpPr>
          <p:nvPr/>
        </p:nvSpPr>
        <p:spPr>
          <a:xfrm xmlns:a="http://schemas.openxmlformats.org/drawingml/2006/main">
            <a:off x="6477000" y="45243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School support</a:t>
            </a:r>
          </a:p>
        </p:txBody>
      </p:sp>
      <p:sp>
        <p:nvSpPr>
          <p:cNvPr id="13" name="">
            <a:extLst xmlns:a="http://schemas.openxmlformats.org/drawingml/2006/main">
              <a:ext uri="{FF2B5EF4-FFF2-40B4-BE49-F238E27FC236}">
                <a16:creationId xmlns:a16="http://schemas.microsoft.com/office/drawing/2014/main" id="{B3B92D96-641B-4B06-91A4-0418CC21B906}"/>
              </a:ext>
            </a:extLst>
          </p:cNvPr>
          <p:cNvSpPr>
            <a:spLocks xmlns:a="http://schemas.openxmlformats.org/drawingml/2006/main" noGrp="1"/>
          </p:cNvSpPr>
          <p:nvPr/>
        </p:nvSpPr>
        <p:spPr>
          <a:xfrm xmlns:a="http://schemas.openxmlformats.org/drawingml/2006/main">
            <a:off x="6477000" y="5143500"/>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Explore consent, account access, educator review, and school reporting.</a:t>
            </a:r>
          </a:p>
        </p:txBody>
      </p:sp>
    </p:spTree>
    <p:extLst>
      <p:ext uri="{BB962C8B-B14F-4D97-AF65-F5344CB8AC3E}">
        <p14:creationId xmlns:p14="http://schemas.microsoft.com/office/powerpoint/2010/main" val="1982105383"/>
      </p:ext>
    </p:extLst>
  </p:cSld>
</p:sld>
</file>

<file path=ppt/slides/slide10.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9B74C6-DACB-40D5-A85A-68F06EA7C03F}"/>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A school-first route to adoption</a:t>
            </a:r>
          </a:p>
        </p:txBody>
      </p:sp>
      <p:sp>
        <p:nvSpPr>
          <p:cNvPr id="2" name="">
            <a:extLst xmlns:a="http://schemas.openxmlformats.org/drawingml/2006/main">
              <a:ext uri="{FF2B5EF4-FFF2-40B4-BE49-F238E27FC236}">
                <a16:creationId xmlns:a16="http://schemas.microsoft.com/office/drawing/2014/main" id="{DDA68ACC-6D14-4548-9BC0-B674F531EDAE}"/>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68B52125-1FCC-420D-B614-C0AE6D24987C}"/>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ADE8EF9-9508-409A-B3BA-67202B55DE1A}"/>
              </a:ext>
            </a:extLst>
          </p:cNvPr>
          <p:cNvSpPr>
            <a:spLocks xmlns:a="http://schemas.openxmlformats.org/drawingml/2006/main" noGrp="1"/>
          </p:cNvSpPr>
          <p:nvPr/>
        </p:nvSpPr>
        <p:spPr>
          <a:xfrm xmlns:a="http://schemas.openxmlformats.org/drawingml/2006/main">
            <a:off x="609600" y="1952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INITIAL USERS</a:t>
            </a:r>
          </a:p>
        </p:txBody>
      </p:sp>
      <p:sp>
        <p:nvSpPr>
          <p:cNvPr id="5" name="">
            <a:extLst xmlns:a="http://schemas.openxmlformats.org/drawingml/2006/main">
              <a:ext uri="{FF2B5EF4-FFF2-40B4-BE49-F238E27FC236}">
                <a16:creationId xmlns:a16="http://schemas.microsoft.com/office/drawing/2014/main" id="{195D3A39-7FB3-41DF-B2ED-8CBBE77F0941}"/>
              </a:ext>
            </a:extLst>
          </p:cNvPr>
          <p:cNvSpPr>
            <a:spLocks xmlns:a="http://schemas.openxmlformats.org/drawingml/2006/main" noGrp="1"/>
          </p:cNvSpPr>
          <p:nvPr/>
        </p:nvSpPr>
        <p:spPr>
          <a:xfrm xmlns:a="http://schemas.openxmlformats.org/drawingml/2006/main">
            <a:off x="609600" y="2381250"/>
            <a:ext cx="657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294E3E"/>
                </a:solidFill>
                <a:latin typeface="Arial"/>
                <a:ea typeface="Arial"/>
                <a:cs typeface="Arial"/>
              </a:defRPr>
            </a:defPPr>
            <a:lvl1pPr>
              <a:defRPr sz="3225" b="1">
                <a:solidFill>
                  <a:srgbClr val="294E3E"/>
                </a:solidFill>
                <a:latin typeface="Arial"/>
                <a:ea typeface="Arial"/>
                <a:cs typeface="Arial"/>
              </a:defRPr>
            </a:lvl1pPr>
            <a:lvl2pPr>
              <a:defRPr sz="3225" b="1">
                <a:solidFill>
                  <a:srgbClr val="294E3E"/>
                </a:solidFill>
                <a:latin typeface="Arial"/>
                <a:ea typeface="Arial"/>
                <a:cs typeface="Arial"/>
              </a:defRPr>
            </a:lvl2pPr>
            <a:lvl3pPr>
              <a:defRPr sz="3225" b="1">
                <a:solidFill>
                  <a:srgbClr val="294E3E"/>
                </a:solidFill>
                <a:latin typeface="Arial"/>
                <a:ea typeface="Arial"/>
                <a:cs typeface="Arial"/>
              </a:defRPr>
            </a:lvl3pPr>
            <a:lvl4pPr>
              <a:defRPr sz="3225" b="1">
                <a:solidFill>
                  <a:srgbClr val="294E3E"/>
                </a:solidFill>
                <a:latin typeface="Arial"/>
                <a:ea typeface="Arial"/>
                <a:cs typeface="Arial"/>
              </a:defRPr>
            </a:lvl4pPr>
            <a:lvl5pPr>
              <a:defRPr sz="3225" b="1">
                <a:solidFill>
                  <a:srgbClr val="294E3E"/>
                </a:solidFill>
                <a:latin typeface="Arial"/>
                <a:ea typeface="Arial"/>
                <a:cs typeface="Arial"/>
              </a:defRPr>
            </a:lvl5pPr>
            <a:lvl6pPr>
              <a:defRPr sz="3225" b="1">
                <a:solidFill>
                  <a:srgbClr val="294E3E"/>
                </a:solidFill>
                <a:latin typeface="Arial"/>
                <a:ea typeface="Arial"/>
                <a:cs typeface="Arial"/>
              </a:defRPr>
            </a:lvl6pPr>
            <a:lvl7pPr>
              <a:defRPr sz="3225" b="1">
                <a:solidFill>
                  <a:srgbClr val="294E3E"/>
                </a:solidFill>
                <a:latin typeface="Arial"/>
                <a:ea typeface="Arial"/>
                <a:cs typeface="Arial"/>
              </a:defRPr>
            </a:lvl7pPr>
            <a:lvl8pPr>
              <a:defRPr sz="3225" b="1">
                <a:solidFill>
                  <a:srgbClr val="294E3E"/>
                </a:solidFill>
                <a:latin typeface="Arial"/>
                <a:ea typeface="Arial"/>
                <a:cs typeface="Arial"/>
              </a:defRPr>
            </a:lvl8pPr>
            <a:lvl9pPr>
              <a:defRPr sz="3225" b="1">
                <a:solidFill>
                  <a:srgbClr val="294E3E"/>
                </a:solidFill>
                <a:latin typeface="Arial"/>
                <a:ea typeface="Arial"/>
                <a:cs typeface="Arial"/>
              </a:defRPr>
            </a:lvl9pPr>
          </a:lstStyle>
          <a:p xmlns:a="http://schemas.openxmlformats.org/drawingml/2006/main">
            <a:pPr>
              <a:defRPr sz="3225" b="1">
                <a:solidFill>
                  <a:srgbClr val="294E3E"/>
                </a:solidFill>
                <a:latin typeface="Arial"/>
                <a:ea typeface="Arial"/>
                <a:cs typeface="Arial"/>
              </a:defRPr>
            </a:pPr>
            <a:r>
              <a:rPr sz="3225" b="1">
                <a:solidFill>
                  <a:srgbClr val="294E3E"/>
                </a:solidFill>
                <a:latin typeface="Arial"/>
                <a:ea typeface="Arial"/>
                <a:cs typeface="Arial"/>
              </a:rPr>
              <a:t>Students exploring subject</a:t>
            </a:r>
          </a:p>
          <a:p xmlns:a="http://schemas.openxmlformats.org/drawingml/2006/main">
            <a:pPr>
              <a:defRPr sz="3225" b="1">
                <a:solidFill>
                  <a:srgbClr val="294E3E"/>
                </a:solidFill>
                <a:latin typeface="Arial"/>
                <a:ea typeface="Arial"/>
                <a:cs typeface="Arial"/>
              </a:defRPr>
            </a:pPr>
            <a:r>
              <a:rPr sz="3225" b="1">
                <a:solidFill>
                  <a:srgbClr val="294E3E"/>
                </a:solidFill>
                <a:latin typeface="Arial"/>
                <a:ea typeface="Arial"/>
                <a:cs typeface="Arial"/>
              </a:rPr>
              <a:t>and career choices</a:t>
            </a:r>
          </a:p>
        </p:txBody>
      </p:sp>
      <p:sp>
        <p:nvSpPr>
          <p:cNvPr id="6" name="">
            <a:extLst xmlns:a="http://schemas.openxmlformats.org/drawingml/2006/main">
              <a:ext uri="{FF2B5EF4-FFF2-40B4-BE49-F238E27FC236}">
                <a16:creationId xmlns:a16="http://schemas.microsoft.com/office/drawing/2014/main" id="{E4F56FCC-0D30-4FF5-B8D4-05EB36FC1681}"/>
              </a:ext>
            </a:extLst>
          </p:cNvPr>
          <p:cNvSpPr>
            <a:spLocks xmlns:a="http://schemas.openxmlformats.org/drawingml/2006/main" noGrp="1"/>
          </p:cNvSpPr>
          <p:nvPr/>
        </p:nvSpPr>
        <p:spPr>
          <a:xfrm xmlns:a="http://schemas.openxmlformats.org/drawingml/2006/main">
            <a:off x="609600" y="4143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Entry point</a:t>
            </a:r>
          </a:p>
        </p:txBody>
      </p:sp>
      <p:sp>
        <p:nvSpPr>
          <p:cNvPr id="7" name="">
            <a:extLst xmlns:a="http://schemas.openxmlformats.org/drawingml/2006/main">
              <a:ext uri="{FF2B5EF4-FFF2-40B4-BE49-F238E27FC236}">
                <a16:creationId xmlns:a16="http://schemas.microsoft.com/office/drawing/2014/main" id="{C3F81434-04C9-46E7-9420-E8EF975FB444}"/>
              </a:ext>
            </a:extLst>
          </p:cNvPr>
          <p:cNvSpPr>
            <a:spLocks xmlns:a="http://schemas.openxmlformats.org/drawingml/2006/main" noGrp="1"/>
          </p:cNvSpPr>
          <p:nvPr/>
        </p:nvSpPr>
        <p:spPr>
          <a:xfrm xmlns:a="http://schemas.openxmlformats.org/drawingml/2006/main">
            <a:off x="609600" y="4762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 counselor-led career discovery session with a short debrief.</a:t>
            </a:r>
          </a:p>
        </p:txBody>
      </p:sp>
      <p:sp>
        <p:nvSpPr>
          <p:cNvPr id="8" name="">
            <a:extLst xmlns:a="http://schemas.openxmlformats.org/drawingml/2006/main">
              <a:ext uri="{FF2B5EF4-FFF2-40B4-BE49-F238E27FC236}">
                <a16:creationId xmlns:a16="http://schemas.microsoft.com/office/drawing/2014/main" id="{C9680566-F808-419A-8D61-8496F4A62E2E}"/>
              </a:ext>
            </a:extLst>
          </p:cNvPr>
          <p:cNvSpPr>
            <a:spLocks xmlns:a="http://schemas.openxmlformats.org/drawingml/2006/main" noGrp="1"/>
          </p:cNvSpPr>
          <p:nvPr/>
        </p:nvSpPr>
        <p:spPr>
          <a:xfrm xmlns:a="http://schemas.openxmlformats.org/drawingml/2006/main">
            <a:off x="6477000" y="4143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53A31"/>
                </a:solidFill>
                <a:latin typeface="Arial"/>
                <a:ea typeface="Arial"/>
                <a:cs typeface="Arial"/>
              </a:defRPr>
            </a:defPPr>
            <a:lvl1pPr>
              <a:defRPr sz="2325" b="1">
                <a:solidFill>
                  <a:srgbClr val="253A31"/>
                </a:solidFill>
                <a:latin typeface="Arial"/>
                <a:ea typeface="Arial"/>
                <a:cs typeface="Arial"/>
              </a:defRPr>
            </a:lvl1pPr>
            <a:lvl2pPr>
              <a:defRPr sz="2325" b="1">
                <a:solidFill>
                  <a:srgbClr val="253A31"/>
                </a:solidFill>
                <a:latin typeface="Arial"/>
                <a:ea typeface="Arial"/>
                <a:cs typeface="Arial"/>
              </a:defRPr>
            </a:lvl2pPr>
            <a:lvl3pPr>
              <a:defRPr sz="2325" b="1">
                <a:solidFill>
                  <a:srgbClr val="253A31"/>
                </a:solidFill>
                <a:latin typeface="Arial"/>
                <a:ea typeface="Arial"/>
                <a:cs typeface="Arial"/>
              </a:defRPr>
            </a:lvl3pPr>
            <a:lvl4pPr>
              <a:defRPr sz="2325" b="1">
                <a:solidFill>
                  <a:srgbClr val="253A31"/>
                </a:solidFill>
                <a:latin typeface="Arial"/>
                <a:ea typeface="Arial"/>
                <a:cs typeface="Arial"/>
              </a:defRPr>
            </a:lvl4pPr>
            <a:lvl5pPr>
              <a:defRPr sz="2325" b="1">
                <a:solidFill>
                  <a:srgbClr val="253A31"/>
                </a:solidFill>
                <a:latin typeface="Arial"/>
                <a:ea typeface="Arial"/>
                <a:cs typeface="Arial"/>
              </a:defRPr>
            </a:lvl5pPr>
            <a:lvl6pPr>
              <a:defRPr sz="2325" b="1">
                <a:solidFill>
                  <a:srgbClr val="253A31"/>
                </a:solidFill>
                <a:latin typeface="Arial"/>
                <a:ea typeface="Arial"/>
                <a:cs typeface="Arial"/>
              </a:defRPr>
            </a:lvl6pPr>
            <a:lvl7pPr>
              <a:defRPr sz="2325" b="1">
                <a:solidFill>
                  <a:srgbClr val="253A31"/>
                </a:solidFill>
                <a:latin typeface="Arial"/>
                <a:ea typeface="Arial"/>
                <a:cs typeface="Arial"/>
              </a:defRPr>
            </a:lvl7pPr>
            <a:lvl8pPr>
              <a:defRPr sz="2325" b="1">
                <a:solidFill>
                  <a:srgbClr val="253A31"/>
                </a:solidFill>
                <a:latin typeface="Arial"/>
                <a:ea typeface="Arial"/>
                <a:cs typeface="Arial"/>
              </a:defRPr>
            </a:lvl8pPr>
            <a:lvl9pPr>
              <a:defRPr sz="2325" b="1">
                <a:solidFill>
                  <a:srgbClr val="253A31"/>
                </a:solidFill>
                <a:latin typeface="Arial"/>
                <a:ea typeface="Arial"/>
                <a:cs typeface="Arial"/>
              </a:defRPr>
            </a:lvl9pPr>
          </a:lstStyle>
          <a:p xmlns:a="http://schemas.openxmlformats.org/drawingml/2006/main">
            <a:pPr>
              <a:defRPr sz="2325" b="1">
                <a:solidFill>
                  <a:srgbClr val="253A31"/>
                </a:solidFill>
                <a:latin typeface="Arial"/>
                <a:ea typeface="Arial"/>
                <a:cs typeface="Arial"/>
              </a:defRPr>
            </a:pPr>
            <a:r>
              <a:rPr sz="2325" b="1">
                <a:solidFill>
                  <a:srgbClr val="253A31"/>
                </a:solidFill>
                <a:latin typeface="Arial"/>
                <a:ea typeface="Arial"/>
                <a:cs typeface="Arial"/>
              </a:rPr>
              <a:t>Revenue hypothesis</a:t>
            </a:r>
          </a:p>
        </p:txBody>
      </p:sp>
      <p:sp>
        <p:nvSpPr>
          <p:cNvPr id="9" name="">
            <a:extLst xmlns:a="http://schemas.openxmlformats.org/drawingml/2006/main">
              <a:ext uri="{FF2B5EF4-FFF2-40B4-BE49-F238E27FC236}">
                <a16:creationId xmlns:a16="http://schemas.microsoft.com/office/drawing/2014/main" id="{0E51EB3D-D224-49D3-A5B7-34C6033B11AB}"/>
              </a:ext>
            </a:extLst>
          </p:cNvPr>
          <p:cNvSpPr>
            <a:spLocks xmlns:a="http://schemas.openxmlformats.org/drawingml/2006/main" noGrp="1"/>
          </p:cNvSpPr>
          <p:nvPr/>
        </p:nvSpPr>
        <p:spPr>
          <a:xfrm xmlns:a="http://schemas.openxmlformats.org/drawingml/2006/main">
            <a:off x="6477000" y="4762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School licenses for mission libraries and educator tools. Validate pricing in pilots.</a:t>
            </a:r>
          </a:p>
        </p:txBody>
      </p:sp>
      <p:sp>
        <p:nvSpPr>
          <p:cNvPr id="10" name="">
            <a:extLst xmlns:a="http://schemas.openxmlformats.org/drawingml/2006/main">
              <a:ext uri="{FF2B5EF4-FFF2-40B4-BE49-F238E27FC236}">
                <a16:creationId xmlns:a16="http://schemas.microsoft.com/office/drawing/2014/main" id="{2FD9FEF3-4CF4-462B-81D2-D92E52860BE5}"/>
              </a:ext>
            </a:extLst>
          </p:cNvPr>
          <p:cNvSpPr>
            <a:spLocks xmlns:a="http://schemas.openxmlformats.org/drawingml/2006/main" noGrp="1"/>
          </p:cNvSpPr>
          <p:nvPr/>
        </p:nvSpPr>
        <p:spPr>
          <a:xfrm xmlns:a="http://schemas.openxmlformats.org/drawingml/2006/main">
            <a:off x="609600" y="57626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754B"/>
                </a:solidFill>
                <a:latin typeface="Arial"/>
                <a:ea typeface="Arial"/>
                <a:cs typeface="Arial"/>
              </a:defRPr>
            </a:defPPr>
            <a:lvl1pPr>
              <a:defRPr sz="1725" b="0">
                <a:solidFill>
                  <a:srgbClr val="B9754B"/>
                </a:solidFill>
                <a:latin typeface="Arial"/>
                <a:ea typeface="Arial"/>
                <a:cs typeface="Arial"/>
              </a:defRPr>
            </a:lvl1pPr>
            <a:lvl2pPr>
              <a:defRPr sz="1725" b="0">
                <a:solidFill>
                  <a:srgbClr val="B9754B"/>
                </a:solidFill>
                <a:latin typeface="Arial"/>
                <a:ea typeface="Arial"/>
                <a:cs typeface="Arial"/>
              </a:defRPr>
            </a:lvl2pPr>
            <a:lvl3pPr>
              <a:defRPr sz="1725" b="0">
                <a:solidFill>
                  <a:srgbClr val="B9754B"/>
                </a:solidFill>
                <a:latin typeface="Arial"/>
                <a:ea typeface="Arial"/>
                <a:cs typeface="Arial"/>
              </a:defRPr>
            </a:lvl3pPr>
            <a:lvl4pPr>
              <a:defRPr sz="1725" b="0">
                <a:solidFill>
                  <a:srgbClr val="B9754B"/>
                </a:solidFill>
                <a:latin typeface="Arial"/>
                <a:ea typeface="Arial"/>
                <a:cs typeface="Arial"/>
              </a:defRPr>
            </a:lvl4pPr>
            <a:lvl5pPr>
              <a:defRPr sz="1725" b="0">
                <a:solidFill>
                  <a:srgbClr val="B9754B"/>
                </a:solidFill>
                <a:latin typeface="Arial"/>
                <a:ea typeface="Arial"/>
                <a:cs typeface="Arial"/>
              </a:defRPr>
            </a:lvl5pPr>
            <a:lvl6pPr>
              <a:defRPr sz="1725" b="0">
                <a:solidFill>
                  <a:srgbClr val="B9754B"/>
                </a:solidFill>
                <a:latin typeface="Arial"/>
                <a:ea typeface="Arial"/>
                <a:cs typeface="Arial"/>
              </a:defRPr>
            </a:lvl6pPr>
            <a:lvl7pPr>
              <a:defRPr sz="1725" b="0">
                <a:solidFill>
                  <a:srgbClr val="B9754B"/>
                </a:solidFill>
                <a:latin typeface="Arial"/>
                <a:ea typeface="Arial"/>
                <a:cs typeface="Arial"/>
              </a:defRPr>
            </a:lvl7pPr>
            <a:lvl8pPr>
              <a:defRPr sz="1725" b="0">
                <a:solidFill>
                  <a:srgbClr val="B9754B"/>
                </a:solidFill>
                <a:latin typeface="Arial"/>
                <a:ea typeface="Arial"/>
                <a:cs typeface="Arial"/>
              </a:defRPr>
            </a:lvl8pPr>
            <a:lvl9pPr>
              <a:defRPr sz="1725" b="0">
                <a:solidFill>
                  <a:srgbClr val="B9754B"/>
                </a:solidFill>
                <a:latin typeface="Arial"/>
                <a:ea typeface="Arial"/>
                <a:cs typeface="Arial"/>
              </a:defRPr>
            </a:lvl9pPr>
          </a:lstStyle>
          <a:p xmlns:a="http://schemas.openxmlformats.org/drawingml/2006/main">
            <a:pPr>
              <a:defRPr sz="1725" b="0">
                <a:solidFill>
                  <a:srgbClr val="B9754B"/>
                </a:solidFill>
                <a:latin typeface="Arial"/>
                <a:ea typeface="Arial"/>
                <a:cs typeface="Arial"/>
              </a:defRPr>
            </a:pPr>
            <a:r>
              <a:rPr sz="1725" b="0">
                <a:solidFill>
                  <a:srgbClr val="B9754B"/>
                </a:solidFill>
                <a:latin typeface="Arial"/>
                <a:ea typeface="Arial"/>
                <a:cs typeface="Arial"/>
              </a:rPr>
              <a:t>Proposed buyer: schools and career guidance programs</a:t>
            </a:r>
          </a:p>
        </p:txBody>
      </p:sp>
    </p:spTree>
    <p:extLst>
      <p:ext uri="{BB962C8B-B14F-4D97-AF65-F5344CB8AC3E}">
        <p14:creationId xmlns:p14="http://schemas.microsoft.com/office/powerpoint/2010/main" val="122932155"/>
      </p:ext>
    </p:extLst>
  </p:cSld>
</p:sld>
</file>

<file path=ppt/slides/slide11.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14A12D-4702-4656-AE70-D0688BF384F0}"/>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The pilot measures discovery</a:t>
            </a:r>
          </a:p>
        </p:txBody>
      </p:sp>
      <p:sp>
        <p:nvSpPr>
          <p:cNvPr id="2" name="">
            <a:extLst xmlns:a="http://schemas.openxmlformats.org/drawingml/2006/main">
              <a:ext uri="{FF2B5EF4-FFF2-40B4-BE49-F238E27FC236}">
                <a16:creationId xmlns:a16="http://schemas.microsoft.com/office/drawing/2014/main" id="{EB816471-0F9E-4D82-8129-45E824904400}"/>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157758A5-AC5B-46D7-86BF-48FD78E29779}"/>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006945A1-7143-49DD-BAC4-06DBCC8EF1A6}"/>
              </a:ext>
            </a:extLst>
          </p:cNvPr>
          <p:cNvSpPr>
            <a:spLocks xmlns:a="http://schemas.openxmlformats.org/drawingml/2006/main" noGrp="1"/>
          </p:cNvSpPr>
          <p:nvPr/>
        </p:nvSpPr>
        <p:spPr>
          <a:xfrm xmlns:a="http://schemas.openxmlformats.org/drawingml/2006/main">
            <a:off x="609600" y="18097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PROPOSED SUCCESS TARGETS, NOT RESULTS</a:t>
            </a:r>
          </a:p>
        </p:txBody>
      </p:sp>
      <p:sp>
        <p:nvSpPr>
          <p:cNvPr id="5" name="">
            <a:extLst xmlns:a="http://schemas.openxmlformats.org/drawingml/2006/main">
              <a:ext uri="{FF2B5EF4-FFF2-40B4-BE49-F238E27FC236}">
                <a16:creationId xmlns:a16="http://schemas.microsoft.com/office/drawing/2014/main" id="{B8B57633-FC6F-4079-9D95-F0B7AB1FC632}"/>
              </a:ext>
            </a:extLst>
          </p:cNvPr>
          <p:cNvSpPr>
            <a:spLocks xmlns:a="http://schemas.openxmlformats.org/drawingml/2006/main" noGrp="1"/>
          </p:cNvSpPr>
          <p:nvPr/>
        </p:nvSpPr>
        <p:spPr>
          <a:xfrm xmlns:a="http://schemas.openxmlformats.org/drawingml/2006/main">
            <a:off x="609600" y="257175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825" b="1">
                <a:solidFill>
                  <a:srgbClr val="294E3E"/>
                </a:solidFill>
                <a:latin typeface="Arial"/>
                <a:ea typeface="Arial"/>
                <a:cs typeface="Arial"/>
              </a:defRPr>
            </a:defPPr>
            <a:lvl1pPr>
              <a:defRPr sz="6825" b="1">
                <a:solidFill>
                  <a:srgbClr val="294E3E"/>
                </a:solidFill>
                <a:latin typeface="Arial"/>
                <a:ea typeface="Arial"/>
                <a:cs typeface="Arial"/>
              </a:defRPr>
            </a:lvl1pPr>
            <a:lvl2pPr>
              <a:defRPr sz="6825" b="1">
                <a:solidFill>
                  <a:srgbClr val="294E3E"/>
                </a:solidFill>
                <a:latin typeface="Arial"/>
                <a:ea typeface="Arial"/>
                <a:cs typeface="Arial"/>
              </a:defRPr>
            </a:lvl2pPr>
            <a:lvl3pPr>
              <a:defRPr sz="6825" b="1">
                <a:solidFill>
                  <a:srgbClr val="294E3E"/>
                </a:solidFill>
                <a:latin typeface="Arial"/>
                <a:ea typeface="Arial"/>
                <a:cs typeface="Arial"/>
              </a:defRPr>
            </a:lvl3pPr>
            <a:lvl4pPr>
              <a:defRPr sz="6825" b="1">
                <a:solidFill>
                  <a:srgbClr val="294E3E"/>
                </a:solidFill>
                <a:latin typeface="Arial"/>
                <a:ea typeface="Arial"/>
                <a:cs typeface="Arial"/>
              </a:defRPr>
            </a:lvl4pPr>
            <a:lvl5pPr>
              <a:defRPr sz="6825" b="1">
                <a:solidFill>
                  <a:srgbClr val="294E3E"/>
                </a:solidFill>
                <a:latin typeface="Arial"/>
                <a:ea typeface="Arial"/>
                <a:cs typeface="Arial"/>
              </a:defRPr>
            </a:lvl5pPr>
            <a:lvl6pPr>
              <a:defRPr sz="6825" b="1">
                <a:solidFill>
                  <a:srgbClr val="294E3E"/>
                </a:solidFill>
                <a:latin typeface="Arial"/>
                <a:ea typeface="Arial"/>
                <a:cs typeface="Arial"/>
              </a:defRPr>
            </a:lvl6pPr>
            <a:lvl7pPr>
              <a:defRPr sz="6825" b="1">
                <a:solidFill>
                  <a:srgbClr val="294E3E"/>
                </a:solidFill>
                <a:latin typeface="Arial"/>
                <a:ea typeface="Arial"/>
                <a:cs typeface="Arial"/>
              </a:defRPr>
            </a:lvl7pPr>
            <a:lvl8pPr>
              <a:defRPr sz="6825" b="1">
                <a:solidFill>
                  <a:srgbClr val="294E3E"/>
                </a:solidFill>
                <a:latin typeface="Arial"/>
                <a:ea typeface="Arial"/>
                <a:cs typeface="Arial"/>
              </a:defRPr>
            </a:lvl8pPr>
            <a:lvl9pPr>
              <a:defRPr sz="6825" b="1">
                <a:solidFill>
                  <a:srgbClr val="294E3E"/>
                </a:solidFill>
                <a:latin typeface="Arial"/>
                <a:ea typeface="Arial"/>
                <a:cs typeface="Arial"/>
              </a:defRPr>
            </a:lvl9pPr>
          </a:lstStyle>
          <a:p xmlns:a="http://schemas.openxmlformats.org/drawingml/2006/main">
            <a:pPr>
              <a:defRPr sz="6825" b="1">
                <a:solidFill>
                  <a:srgbClr val="294E3E"/>
                </a:solidFill>
                <a:latin typeface="Arial"/>
                <a:ea typeface="Arial"/>
                <a:cs typeface="Arial"/>
              </a:defRPr>
            </a:pPr>
            <a:r>
              <a:rPr sz="6825" b="1">
                <a:solidFill>
                  <a:srgbClr val="294E3E"/>
                </a:solidFill>
                <a:latin typeface="Arial"/>
                <a:ea typeface="Arial"/>
                <a:cs typeface="Arial"/>
              </a:rPr>
              <a:t>70%</a:t>
            </a:r>
          </a:p>
        </p:txBody>
      </p:sp>
      <p:sp>
        <p:nvSpPr>
          <p:cNvPr id="6" name="">
            <a:extLst xmlns:a="http://schemas.openxmlformats.org/drawingml/2006/main">
              <a:ext uri="{FF2B5EF4-FFF2-40B4-BE49-F238E27FC236}">
                <a16:creationId xmlns:a16="http://schemas.microsoft.com/office/drawing/2014/main" id="{3280A94E-EAFF-4862-B7CB-D44ADD788E1A}"/>
              </a:ext>
            </a:extLst>
          </p:cNvPr>
          <p:cNvSpPr>
            <a:spLocks xmlns:a="http://schemas.openxmlformats.org/drawingml/2006/main" noGrp="1"/>
          </p:cNvSpPr>
          <p:nvPr/>
        </p:nvSpPr>
        <p:spPr>
          <a:xfrm xmlns:a="http://schemas.openxmlformats.org/drawingml/2006/main">
            <a:off x="609600" y="42386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Finish their first mission</a:t>
            </a:r>
          </a:p>
        </p:txBody>
      </p:sp>
      <p:sp>
        <p:nvSpPr>
          <p:cNvPr id="7" name="">
            <a:extLst xmlns:a="http://schemas.openxmlformats.org/drawingml/2006/main">
              <a:ext uri="{FF2B5EF4-FFF2-40B4-BE49-F238E27FC236}">
                <a16:creationId xmlns:a16="http://schemas.microsoft.com/office/drawing/2014/main" id="{6FD7E340-CAB2-4F21-B376-5039B71FFF3C}"/>
              </a:ext>
            </a:extLst>
          </p:cNvPr>
          <p:cNvSpPr>
            <a:spLocks xmlns:a="http://schemas.openxmlformats.org/drawingml/2006/main" noGrp="1"/>
          </p:cNvSpPr>
          <p:nvPr/>
        </p:nvSpPr>
        <p:spPr>
          <a:xfrm xmlns:a="http://schemas.openxmlformats.org/drawingml/2006/main">
            <a:off x="4371975" y="257175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825" b="1">
                <a:solidFill>
                  <a:srgbClr val="294E3E"/>
                </a:solidFill>
                <a:latin typeface="Arial"/>
                <a:ea typeface="Arial"/>
                <a:cs typeface="Arial"/>
              </a:defRPr>
            </a:defPPr>
            <a:lvl1pPr>
              <a:defRPr sz="6825" b="1">
                <a:solidFill>
                  <a:srgbClr val="294E3E"/>
                </a:solidFill>
                <a:latin typeface="Arial"/>
                <a:ea typeface="Arial"/>
                <a:cs typeface="Arial"/>
              </a:defRPr>
            </a:lvl1pPr>
            <a:lvl2pPr>
              <a:defRPr sz="6825" b="1">
                <a:solidFill>
                  <a:srgbClr val="294E3E"/>
                </a:solidFill>
                <a:latin typeface="Arial"/>
                <a:ea typeface="Arial"/>
                <a:cs typeface="Arial"/>
              </a:defRPr>
            </a:lvl2pPr>
            <a:lvl3pPr>
              <a:defRPr sz="6825" b="1">
                <a:solidFill>
                  <a:srgbClr val="294E3E"/>
                </a:solidFill>
                <a:latin typeface="Arial"/>
                <a:ea typeface="Arial"/>
                <a:cs typeface="Arial"/>
              </a:defRPr>
            </a:lvl3pPr>
            <a:lvl4pPr>
              <a:defRPr sz="6825" b="1">
                <a:solidFill>
                  <a:srgbClr val="294E3E"/>
                </a:solidFill>
                <a:latin typeface="Arial"/>
                <a:ea typeface="Arial"/>
                <a:cs typeface="Arial"/>
              </a:defRPr>
            </a:lvl4pPr>
            <a:lvl5pPr>
              <a:defRPr sz="6825" b="1">
                <a:solidFill>
                  <a:srgbClr val="294E3E"/>
                </a:solidFill>
                <a:latin typeface="Arial"/>
                <a:ea typeface="Arial"/>
                <a:cs typeface="Arial"/>
              </a:defRPr>
            </a:lvl5pPr>
            <a:lvl6pPr>
              <a:defRPr sz="6825" b="1">
                <a:solidFill>
                  <a:srgbClr val="294E3E"/>
                </a:solidFill>
                <a:latin typeface="Arial"/>
                <a:ea typeface="Arial"/>
                <a:cs typeface="Arial"/>
              </a:defRPr>
            </a:lvl6pPr>
            <a:lvl7pPr>
              <a:defRPr sz="6825" b="1">
                <a:solidFill>
                  <a:srgbClr val="294E3E"/>
                </a:solidFill>
                <a:latin typeface="Arial"/>
                <a:ea typeface="Arial"/>
                <a:cs typeface="Arial"/>
              </a:defRPr>
            </a:lvl7pPr>
            <a:lvl8pPr>
              <a:defRPr sz="6825" b="1">
                <a:solidFill>
                  <a:srgbClr val="294E3E"/>
                </a:solidFill>
                <a:latin typeface="Arial"/>
                <a:ea typeface="Arial"/>
                <a:cs typeface="Arial"/>
              </a:defRPr>
            </a:lvl8pPr>
            <a:lvl9pPr>
              <a:defRPr sz="6825" b="1">
                <a:solidFill>
                  <a:srgbClr val="294E3E"/>
                </a:solidFill>
                <a:latin typeface="Arial"/>
                <a:ea typeface="Arial"/>
                <a:cs typeface="Arial"/>
              </a:defRPr>
            </a:lvl9pPr>
          </a:lstStyle>
          <a:p xmlns:a="http://schemas.openxmlformats.org/drawingml/2006/main">
            <a:pPr>
              <a:defRPr sz="6825" b="1">
                <a:solidFill>
                  <a:srgbClr val="294E3E"/>
                </a:solidFill>
                <a:latin typeface="Arial"/>
                <a:ea typeface="Arial"/>
                <a:cs typeface="Arial"/>
              </a:defRPr>
            </a:pPr>
            <a:r>
              <a:rPr sz="6825" b="1">
                <a:solidFill>
                  <a:srgbClr val="294E3E"/>
                </a:solidFill>
                <a:latin typeface="Arial"/>
                <a:ea typeface="Arial"/>
                <a:cs typeface="Arial"/>
              </a:rPr>
              <a:t>50%</a:t>
            </a:r>
          </a:p>
        </p:txBody>
      </p:sp>
      <p:sp>
        <p:nvSpPr>
          <p:cNvPr id="8" name="">
            <a:extLst xmlns:a="http://schemas.openxmlformats.org/drawingml/2006/main">
              <a:ext uri="{FF2B5EF4-FFF2-40B4-BE49-F238E27FC236}">
                <a16:creationId xmlns:a16="http://schemas.microsoft.com/office/drawing/2014/main" id="{C3A1CA63-F25D-4573-82EA-ACE738703E8D}"/>
              </a:ext>
            </a:extLst>
          </p:cNvPr>
          <p:cNvSpPr>
            <a:spLocks xmlns:a="http://schemas.openxmlformats.org/drawingml/2006/main" noGrp="1"/>
          </p:cNvSpPr>
          <p:nvPr/>
        </p:nvSpPr>
        <p:spPr>
          <a:xfrm xmlns:a="http://schemas.openxmlformats.org/drawingml/2006/main">
            <a:off x="4371975" y="42386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Voluntarily start a second</a:t>
            </a:r>
          </a:p>
        </p:txBody>
      </p:sp>
      <p:sp>
        <p:nvSpPr>
          <p:cNvPr id="9" name="">
            <a:extLst xmlns:a="http://schemas.openxmlformats.org/drawingml/2006/main">
              <a:ext uri="{FF2B5EF4-FFF2-40B4-BE49-F238E27FC236}">
                <a16:creationId xmlns:a16="http://schemas.microsoft.com/office/drawing/2014/main" id="{81831C48-0627-4455-BC78-98104C9898D4}"/>
              </a:ext>
            </a:extLst>
          </p:cNvPr>
          <p:cNvSpPr>
            <a:spLocks xmlns:a="http://schemas.openxmlformats.org/drawingml/2006/main" noGrp="1"/>
          </p:cNvSpPr>
          <p:nvPr/>
        </p:nvSpPr>
        <p:spPr>
          <a:xfrm xmlns:a="http://schemas.openxmlformats.org/drawingml/2006/main">
            <a:off x="8134350" y="257175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825" b="1">
                <a:solidFill>
                  <a:srgbClr val="294E3E"/>
                </a:solidFill>
                <a:latin typeface="Arial"/>
                <a:ea typeface="Arial"/>
                <a:cs typeface="Arial"/>
              </a:defRPr>
            </a:defPPr>
            <a:lvl1pPr>
              <a:defRPr sz="6825" b="1">
                <a:solidFill>
                  <a:srgbClr val="294E3E"/>
                </a:solidFill>
                <a:latin typeface="Arial"/>
                <a:ea typeface="Arial"/>
                <a:cs typeface="Arial"/>
              </a:defRPr>
            </a:lvl1pPr>
            <a:lvl2pPr>
              <a:defRPr sz="6825" b="1">
                <a:solidFill>
                  <a:srgbClr val="294E3E"/>
                </a:solidFill>
                <a:latin typeface="Arial"/>
                <a:ea typeface="Arial"/>
                <a:cs typeface="Arial"/>
              </a:defRPr>
            </a:lvl2pPr>
            <a:lvl3pPr>
              <a:defRPr sz="6825" b="1">
                <a:solidFill>
                  <a:srgbClr val="294E3E"/>
                </a:solidFill>
                <a:latin typeface="Arial"/>
                <a:ea typeface="Arial"/>
                <a:cs typeface="Arial"/>
              </a:defRPr>
            </a:lvl3pPr>
            <a:lvl4pPr>
              <a:defRPr sz="6825" b="1">
                <a:solidFill>
                  <a:srgbClr val="294E3E"/>
                </a:solidFill>
                <a:latin typeface="Arial"/>
                <a:ea typeface="Arial"/>
                <a:cs typeface="Arial"/>
              </a:defRPr>
            </a:lvl4pPr>
            <a:lvl5pPr>
              <a:defRPr sz="6825" b="1">
                <a:solidFill>
                  <a:srgbClr val="294E3E"/>
                </a:solidFill>
                <a:latin typeface="Arial"/>
                <a:ea typeface="Arial"/>
                <a:cs typeface="Arial"/>
              </a:defRPr>
            </a:lvl5pPr>
            <a:lvl6pPr>
              <a:defRPr sz="6825" b="1">
                <a:solidFill>
                  <a:srgbClr val="294E3E"/>
                </a:solidFill>
                <a:latin typeface="Arial"/>
                <a:ea typeface="Arial"/>
                <a:cs typeface="Arial"/>
              </a:defRPr>
            </a:lvl6pPr>
            <a:lvl7pPr>
              <a:defRPr sz="6825" b="1">
                <a:solidFill>
                  <a:srgbClr val="294E3E"/>
                </a:solidFill>
                <a:latin typeface="Arial"/>
                <a:ea typeface="Arial"/>
                <a:cs typeface="Arial"/>
              </a:defRPr>
            </a:lvl7pPr>
            <a:lvl8pPr>
              <a:defRPr sz="6825" b="1">
                <a:solidFill>
                  <a:srgbClr val="294E3E"/>
                </a:solidFill>
                <a:latin typeface="Arial"/>
                <a:ea typeface="Arial"/>
                <a:cs typeface="Arial"/>
              </a:defRPr>
            </a:lvl8pPr>
            <a:lvl9pPr>
              <a:defRPr sz="6825" b="1">
                <a:solidFill>
                  <a:srgbClr val="294E3E"/>
                </a:solidFill>
                <a:latin typeface="Arial"/>
                <a:ea typeface="Arial"/>
                <a:cs typeface="Arial"/>
              </a:defRPr>
            </a:lvl9pPr>
          </a:lstStyle>
          <a:p xmlns:a="http://schemas.openxmlformats.org/drawingml/2006/main">
            <a:pPr>
              <a:defRPr sz="6825" b="1">
                <a:solidFill>
                  <a:srgbClr val="294E3E"/>
                </a:solidFill>
                <a:latin typeface="Arial"/>
                <a:ea typeface="Arial"/>
                <a:cs typeface="Arial"/>
              </a:defRPr>
            </a:pPr>
            <a:r>
              <a:rPr sz="6825" b="1">
                <a:solidFill>
                  <a:srgbClr val="294E3E"/>
                </a:solidFill>
                <a:latin typeface="Arial"/>
                <a:ea typeface="Arial"/>
                <a:cs typeface="Arial"/>
              </a:rPr>
              <a:t>80%</a:t>
            </a:r>
          </a:p>
        </p:txBody>
      </p:sp>
      <p:sp>
        <p:nvSpPr>
          <p:cNvPr id="10" name="">
            <a:extLst xmlns:a="http://schemas.openxmlformats.org/drawingml/2006/main">
              <a:ext uri="{FF2B5EF4-FFF2-40B4-BE49-F238E27FC236}">
                <a16:creationId xmlns:a16="http://schemas.microsoft.com/office/drawing/2014/main" id="{925308E9-8B12-4F3C-9F2D-6B915A30301F}"/>
              </a:ext>
            </a:extLst>
          </p:cNvPr>
          <p:cNvSpPr>
            <a:spLocks xmlns:a="http://schemas.openxmlformats.org/drawingml/2006/main" noGrp="1"/>
          </p:cNvSpPr>
          <p:nvPr/>
        </p:nvSpPr>
        <p:spPr>
          <a:xfrm xmlns:a="http://schemas.openxmlformats.org/drawingml/2006/main">
            <a:off x="8134350" y="42386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A31"/>
                </a:solidFill>
                <a:latin typeface="Arial"/>
                <a:ea typeface="Arial"/>
                <a:cs typeface="Arial"/>
              </a:defRPr>
            </a:defPPr>
            <a:lvl1pPr>
              <a:defRPr sz="2175" b="0">
                <a:solidFill>
                  <a:srgbClr val="253A31"/>
                </a:solidFill>
                <a:latin typeface="Arial"/>
                <a:ea typeface="Arial"/>
                <a:cs typeface="Arial"/>
              </a:defRPr>
            </a:lvl1pPr>
            <a:lvl2pPr>
              <a:defRPr sz="2175" b="0">
                <a:solidFill>
                  <a:srgbClr val="253A31"/>
                </a:solidFill>
                <a:latin typeface="Arial"/>
                <a:ea typeface="Arial"/>
                <a:cs typeface="Arial"/>
              </a:defRPr>
            </a:lvl2pPr>
            <a:lvl3pPr>
              <a:defRPr sz="2175" b="0">
                <a:solidFill>
                  <a:srgbClr val="253A31"/>
                </a:solidFill>
                <a:latin typeface="Arial"/>
                <a:ea typeface="Arial"/>
                <a:cs typeface="Arial"/>
              </a:defRPr>
            </a:lvl3pPr>
            <a:lvl4pPr>
              <a:defRPr sz="2175" b="0">
                <a:solidFill>
                  <a:srgbClr val="253A31"/>
                </a:solidFill>
                <a:latin typeface="Arial"/>
                <a:ea typeface="Arial"/>
                <a:cs typeface="Arial"/>
              </a:defRPr>
            </a:lvl4pPr>
            <a:lvl5pPr>
              <a:defRPr sz="2175" b="0">
                <a:solidFill>
                  <a:srgbClr val="253A31"/>
                </a:solidFill>
                <a:latin typeface="Arial"/>
                <a:ea typeface="Arial"/>
                <a:cs typeface="Arial"/>
              </a:defRPr>
            </a:lvl5pPr>
            <a:lvl6pPr>
              <a:defRPr sz="2175" b="0">
                <a:solidFill>
                  <a:srgbClr val="253A31"/>
                </a:solidFill>
                <a:latin typeface="Arial"/>
                <a:ea typeface="Arial"/>
                <a:cs typeface="Arial"/>
              </a:defRPr>
            </a:lvl6pPr>
            <a:lvl7pPr>
              <a:defRPr sz="2175" b="0">
                <a:solidFill>
                  <a:srgbClr val="253A31"/>
                </a:solidFill>
                <a:latin typeface="Arial"/>
                <a:ea typeface="Arial"/>
                <a:cs typeface="Arial"/>
              </a:defRPr>
            </a:lvl7pPr>
            <a:lvl8pPr>
              <a:defRPr sz="2175" b="0">
                <a:solidFill>
                  <a:srgbClr val="253A31"/>
                </a:solidFill>
                <a:latin typeface="Arial"/>
                <a:ea typeface="Arial"/>
                <a:cs typeface="Arial"/>
              </a:defRPr>
            </a:lvl8pPr>
            <a:lvl9pPr>
              <a:defRPr sz="2175" b="0">
                <a:solidFill>
                  <a:srgbClr val="253A31"/>
                </a:solidFill>
                <a:latin typeface="Arial"/>
                <a:ea typeface="Arial"/>
                <a:cs typeface="Arial"/>
              </a:defRPr>
            </a:lvl9pPr>
          </a:lstStyle>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Say feedback describes</a:t>
            </a:r>
          </a:p>
          <a:p xmlns:a="http://schemas.openxmlformats.org/drawingml/2006/main">
            <a:pPr>
              <a:defRPr sz="2175" b="0">
                <a:solidFill>
                  <a:srgbClr val="253A31"/>
                </a:solidFill>
                <a:latin typeface="Arial"/>
                <a:ea typeface="Arial"/>
                <a:cs typeface="Arial"/>
              </a:defRPr>
            </a:pPr>
            <a:r>
              <a:rPr sz="2175" b="0">
                <a:solidFill>
                  <a:srgbClr val="253A31"/>
                </a:solidFill>
                <a:latin typeface="Arial"/>
                <a:ea typeface="Arial"/>
                <a:cs typeface="Arial"/>
              </a:rPr>
              <a:t>what they did</a:t>
            </a:r>
          </a:p>
        </p:txBody>
      </p:sp>
      <p:sp>
        <p:nvSpPr>
          <p:cNvPr id="11" name="">
            <a:extLst xmlns:a="http://schemas.openxmlformats.org/drawingml/2006/main">
              <a:ext uri="{FF2B5EF4-FFF2-40B4-BE49-F238E27FC236}">
                <a16:creationId xmlns:a16="http://schemas.microsoft.com/office/drawing/2014/main" id="{DA2CB519-1ADC-4573-8CCD-1D39C1519FC5}"/>
              </a:ext>
            </a:extLst>
          </p:cNvPr>
          <p:cNvSpPr>
            <a:spLocks xmlns:a="http://schemas.openxmlformats.org/drawingml/2006/main" noGrp="1"/>
          </p:cNvSpPr>
          <p:nvPr/>
        </p:nvSpPr>
        <p:spPr>
          <a:xfrm xmlns:a="http://schemas.openxmlformats.org/drawingml/2006/main">
            <a:off x="609600" y="5762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57365"/>
                </a:solidFill>
                <a:latin typeface="Arial"/>
                <a:ea typeface="Arial"/>
                <a:cs typeface="Arial"/>
              </a:defRPr>
            </a:defPPr>
            <a:lvl1pPr>
              <a:defRPr sz="1875" b="0">
                <a:solidFill>
                  <a:srgbClr val="657365"/>
                </a:solidFill>
                <a:latin typeface="Arial"/>
                <a:ea typeface="Arial"/>
                <a:cs typeface="Arial"/>
              </a:defRPr>
            </a:lvl1pPr>
            <a:lvl2pPr>
              <a:defRPr sz="1875" b="0">
                <a:solidFill>
                  <a:srgbClr val="657365"/>
                </a:solidFill>
                <a:latin typeface="Arial"/>
                <a:ea typeface="Arial"/>
                <a:cs typeface="Arial"/>
              </a:defRPr>
            </a:lvl2pPr>
            <a:lvl3pPr>
              <a:defRPr sz="1875" b="0">
                <a:solidFill>
                  <a:srgbClr val="657365"/>
                </a:solidFill>
                <a:latin typeface="Arial"/>
                <a:ea typeface="Arial"/>
                <a:cs typeface="Arial"/>
              </a:defRPr>
            </a:lvl3pPr>
            <a:lvl4pPr>
              <a:defRPr sz="1875" b="0">
                <a:solidFill>
                  <a:srgbClr val="657365"/>
                </a:solidFill>
                <a:latin typeface="Arial"/>
                <a:ea typeface="Arial"/>
                <a:cs typeface="Arial"/>
              </a:defRPr>
            </a:lvl4pPr>
            <a:lvl5pPr>
              <a:defRPr sz="1875" b="0">
                <a:solidFill>
                  <a:srgbClr val="657365"/>
                </a:solidFill>
                <a:latin typeface="Arial"/>
                <a:ea typeface="Arial"/>
                <a:cs typeface="Arial"/>
              </a:defRPr>
            </a:lvl5pPr>
            <a:lvl6pPr>
              <a:defRPr sz="1875" b="0">
                <a:solidFill>
                  <a:srgbClr val="657365"/>
                </a:solidFill>
                <a:latin typeface="Arial"/>
                <a:ea typeface="Arial"/>
                <a:cs typeface="Arial"/>
              </a:defRPr>
            </a:lvl6pPr>
            <a:lvl7pPr>
              <a:defRPr sz="1875" b="0">
                <a:solidFill>
                  <a:srgbClr val="657365"/>
                </a:solidFill>
                <a:latin typeface="Arial"/>
                <a:ea typeface="Arial"/>
                <a:cs typeface="Arial"/>
              </a:defRPr>
            </a:lvl7pPr>
            <a:lvl8pPr>
              <a:defRPr sz="1875" b="0">
                <a:solidFill>
                  <a:srgbClr val="657365"/>
                </a:solidFill>
                <a:latin typeface="Arial"/>
                <a:ea typeface="Arial"/>
                <a:cs typeface="Arial"/>
              </a:defRPr>
            </a:lvl8pPr>
            <a:lvl9pPr>
              <a:defRPr sz="1875" b="0">
                <a:solidFill>
                  <a:srgbClr val="657365"/>
                </a:solidFill>
                <a:latin typeface="Arial"/>
                <a:ea typeface="Arial"/>
                <a:cs typeface="Arial"/>
              </a:defRPr>
            </a:lvl9pPr>
          </a:lstStyle>
          <a:p xmlns:a="http://schemas.openxmlformats.org/drawingml/2006/main">
            <a:pPr>
              <a:defRPr sz="1875" b="0">
                <a:solidFill>
                  <a:srgbClr val="657365"/>
                </a:solidFill>
                <a:latin typeface="Arial"/>
                <a:ea typeface="Arial"/>
                <a:cs typeface="Arial"/>
              </a:defRPr>
            </a:pPr>
            <a:r>
              <a:rPr sz="1875" b="0">
                <a:solidFill>
                  <a:srgbClr val="657365"/>
                </a:solidFill>
                <a:latin typeface="Arial"/>
                <a:ea typeface="Arial"/>
                <a:cs typeface="Arial"/>
              </a:rPr>
              <a:t>Also ask: “What did you learn about yourself, and what will you try next?”</a:t>
            </a:r>
          </a:p>
        </p:txBody>
      </p:sp>
    </p:spTree>
    <p:extLst>
      <p:ext uri="{BB962C8B-B14F-4D97-AF65-F5344CB8AC3E}">
        <p14:creationId xmlns:p14="http://schemas.microsoft.com/office/powerpoint/2010/main" val="663171245"/>
      </p:ext>
    </p:extLst>
  </p:cSld>
</p:sld>
</file>

<file path=ppt/slides/slide1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262B13-8135-4AB2-A4E6-B3309D8880BD}"/>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253A31"/>
                </a:solidFill>
                <a:latin typeface="Arial"/>
                <a:ea typeface="Arial"/>
                <a:cs typeface="Arial"/>
              </a:defRPr>
            </a:defPPr>
            <a:lvl1pPr>
              <a:defRPr sz="3450" b="1">
                <a:solidFill>
                  <a:srgbClr val="253A31"/>
                </a:solidFill>
                <a:latin typeface="Arial"/>
                <a:ea typeface="Arial"/>
                <a:cs typeface="Arial"/>
              </a:defRPr>
            </a:lvl1pPr>
            <a:lvl2pPr>
              <a:defRPr sz="3450" b="1">
                <a:solidFill>
                  <a:srgbClr val="253A31"/>
                </a:solidFill>
                <a:latin typeface="Arial"/>
                <a:ea typeface="Arial"/>
                <a:cs typeface="Arial"/>
              </a:defRPr>
            </a:lvl2pPr>
            <a:lvl3pPr>
              <a:defRPr sz="3450" b="1">
                <a:solidFill>
                  <a:srgbClr val="253A31"/>
                </a:solidFill>
                <a:latin typeface="Arial"/>
                <a:ea typeface="Arial"/>
                <a:cs typeface="Arial"/>
              </a:defRPr>
            </a:lvl3pPr>
            <a:lvl4pPr>
              <a:defRPr sz="3450" b="1">
                <a:solidFill>
                  <a:srgbClr val="253A31"/>
                </a:solidFill>
                <a:latin typeface="Arial"/>
                <a:ea typeface="Arial"/>
                <a:cs typeface="Arial"/>
              </a:defRPr>
            </a:lvl4pPr>
            <a:lvl5pPr>
              <a:defRPr sz="3450" b="1">
                <a:solidFill>
                  <a:srgbClr val="253A31"/>
                </a:solidFill>
                <a:latin typeface="Arial"/>
                <a:ea typeface="Arial"/>
                <a:cs typeface="Arial"/>
              </a:defRPr>
            </a:lvl5pPr>
            <a:lvl6pPr>
              <a:defRPr sz="3450" b="1">
                <a:solidFill>
                  <a:srgbClr val="253A31"/>
                </a:solidFill>
                <a:latin typeface="Arial"/>
                <a:ea typeface="Arial"/>
                <a:cs typeface="Arial"/>
              </a:defRPr>
            </a:lvl6pPr>
            <a:lvl7pPr>
              <a:defRPr sz="3450" b="1">
                <a:solidFill>
                  <a:srgbClr val="253A31"/>
                </a:solidFill>
                <a:latin typeface="Arial"/>
                <a:ea typeface="Arial"/>
                <a:cs typeface="Arial"/>
              </a:defRPr>
            </a:lvl7pPr>
            <a:lvl8pPr>
              <a:defRPr sz="3450" b="1">
                <a:solidFill>
                  <a:srgbClr val="253A31"/>
                </a:solidFill>
                <a:latin typeface="Arial"/>
                <a:ea typeface="Arial"/>
                <a:cs typeface="Arial"/>
              </a:defRPr>
            </a:lvl8pPr>
            <a:lvl9pPr>
              <a:defRPr sz="3450" b="1">
                <a:solidFill>
                  <a:srgbClr val="253A31"/>
                </a:solidFill>
                <a:latin typeface="Arial"/>
                <a:ea typeface="Arial"/>
                <a:cs typeface="Arial"/>
              </a:defRPr>
            </a:lvl9pPr>
          </a:lstStyle>
          <a:p xmlns:a="http://schemas.openxmlformats.org/drawingml/2006/main">
            <a:pPr>
              <a:defRPr sz="3450" b="1">
                <a:solidFill>
                  <a:srgbClr val="253A31"/>
                </a:solidFill>
                <a:latin typeface="Arial"/>
                <a:ea typeface="Arial"/>
                <a:cs typeface="Arial"/>
              </a:defRPr>
            </a:pPr>
            <a:r>
              <a:rPr sz="3450" b="1">
                <a:solidFill>
                  <a:srgbClr val="253A31"/>
                </a:solidFill>
                <a:latin typeface="Arial"/>
                <a:ea typeface="Arial"/>
                <a:cs typeface="Arial"/>
              </a:rPr>
              <a:t>A focused path beyond the MVP</a:t>
            </a:r>
          </a:p>
        </p:txBody>
      </p:sp>
      <p:sp>
        <p:nvSpPr>
          <p:cNvPr id="2" name="">
            <a:extLst xmlns:a="http://schemas.openxmlformats.org/drawingml/2006/main">
              <a:ext uri="{FF2B5EF4-FFF2-40B4-BE49-F238E27FC236}">
                <a16:creationId xmlns:a16="http://schemas.microsoft.com/office/drawing/2014/main" id="{A295B60D-5238-4770-B1BD-221E4B454BB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0E7CD83C-62C4-4B59-BA9A-80D12895ABE1}"/>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657365"/>
                </a:solidFill>
                <a:latin typeface="Arial"/>
                <a:ea typeface="Arial"/>
                <a:cs typeface="Arial"/>
              </a:defRPr>
            </a:defPPr>
            <a:lvl1pPr>
              <a:defRPr sz="1125" b="0">
                <a:solidFill>
                  <a:srgbClr val="657365"/>
                </a:solidFill>
                <a:latin typeface="Arial"/>
                <a:ea typeface="Arial"/>
                <a:cs typeface="Arial"/>
              </a:defRPr>
            </a:lvl1pPr>
            <a:lvl2pPr>
              <a:defRPr sz="1125" b="0">
                <a:solidFill>
                  <a:srgbClr val="657365"/>
                </a:solidFill>
                <a:latin typeface="Arial"/>
                <a:ea typeface="Arial"/>
                <a:cs typeface="Arial"/>
              </a:defRPr>
            </a:lvl2pPr>
            <a:lvl3pPr>
              <a:defRPr sz="1125" b="0">
                <a:solidFill>
                  <a:srgbClr val="657365"/>
                </a:solidFill>
                <a:latin typeface="Arial"/>
                <a:ea typeface="Arial"/>
                <a:cs typeface="Arial"/>
              </a:defRPr>
            </a:lvl3pPr>
            <a:lvl4pPr>
              <a:defRPr sz="1125" b="0">
                <a:solidFill>
                  <a:srgbClr val="657365"/>
                </a:solidFill>
                <a:latin typeface="Arial"/>
                <a:ea typeface="Arial"/>
                <a:cs typeface="Arial"/>
              </a:defRPr>
            </a:lvl4pPr>
            <a:lvl5pPr>
              <a:defRPr sz="1125" b="0">
                <a:solidFill>
                  <a:srgbClr val="657365"/>
                </a:solidFill>
                <a:latin typeface="Arial"/>
                <a:ea typeface="Arial"/>
                <a:cs typeface="Arial"/>
              </a:defRPr>
            </a:lvl5pPr>
            <a:lvl6pPr>
              <a:defRPr sz="1125" b="0">
                <a:solidFill>
                  <a:srgbClr val="657365"/>
                </a:solidFill>
                <a:latin typeface="Arial"/>
                <a:ea typeface="Arial"/>
                <a:cs typeface="Arial"/>
              </a:defRPr>
            </a:lvl6pPr>
            <a:lvl7pPr>
              <a:defRPr sz="1125" b="0">
                <a:solidFill>
                  <a:srgbClr val="657365"/>
                </a:solidFill>
                <a:latin typeface="Arial"/>
                <a:ea typeface="Arial"/>
                <a:cs typeface="Arial"/>
              </a:defRPr>
            </a:lvl7pPr>
            <a:lvl8pPr>
              <a:defRPr sz="1125" b="0">
                <a:solidFill>
                  <a:srgbClr val="657365"/>
                </a:solidFill>
                <a:latin typeface="Arial"/>
                <a:ea typeface="Arial"/>
                <a:cs typeface="Arial"/>
              </a:defRPr>
            </a:lvl8pPr>
            <a:lvl9pPr>
              <a:defRPr sz="1125" b="0">
                <a:solidFill>
                  <a:srgbClr val="657365"/>
                </a:solidFill>
                <a:latin typeface="Arial"/>
                <a:ea typeface="Arial"/>
                <a:cs typeface="Arial"/>
              </a:defRPr>
            </a:lvl9pPr>
          </a:lstStyle>
          <a:p xmlns:a="http://schemas.openxmlformats.org/drawingml/2006/main">
            <a:pPr>
              <a:defRPr sz="1125" b="0">
                <a:solidFill>
                  <a:srgbClr val="657365"/>
                </a:solidFill>
                <a:latin typeface="Arial"/>
                <a:ea typeface="Arial"/>
                <a:cs typeface="Arial"/>
              </a:defRPr>
            </a:pPr>
            <a:r>
              <a:rPr sz="1125" b="0">
                <a:solidFill>
                  <a:srgbClr val="65736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C0BBCD9-7E6E-4312-B137-B16591AC6DF1}"/>
              </a:ext>
            </a:extLst>
          </p:cNvPr>
          <p:cNvSpPr>
            <a:spLocks xmlns:a="http://schemas.openxmlformats.org/drawingml/2006/main" noGrp="1"/>
          </p:cNvSpPr>
          <p:nvPr/>
        </p:nvSpPr>
        <p:spPr>
          <a:xfrm xmlns:a="http://schemas.openxmlformats.org/drawingml/2006/main">
            <a:off x="609600" y="19526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NOW</a:t>
            </a:r>
          </a:p>
        </p:txBody>
      </p:sp>
      <p:sp>
        <p:nvSpPr>
          <p:cNvPr id="5" name="">
            <a:extLst xmlns:a="http://schemas.openxmlformats.org/drawingml/2006/main">
              <a:ext uri="{FF2B5EF4-FFF2-40B4-BE49-F238E27FC236}">
                <a16:creationId xmlns:a16="http://schemas.microsoft.com/office/drawing/2014/main" id="{824573E2-ADE7-4BC1-A0C0-A5DDEA012953}"/>
              </a:ext>
            </a:extLst>
          </p:cNvPr>
          <p:cNvSpPr>
            <a:spLocks xmlns:a="http://schemas.openxmlformats.org/drawingml/2006/main" noGrp="1"/>
          </p:cNvSpPr>
          <p:nvPr/>
        </p:nvSpPr>
        <p:spPr>
          <a:xfrm xmlns:a="http://schemas.openxmlformats.org/drawingml/2006/main">
            <a:off x="2190750" y="19145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94E3E"/>
                </a:solidFill>
                <a:latin typeface="Arial"/>
                <a:ea typeface="Arial"/>
                <a:cs typeface="Arial"/>
              </a:defRPr>
            </a:defPPr>
            <a:lvl1pPr>
              <a:defRPr sz="2625" b="1">
                <a:solidFill>
                  <a:srgbClr val="294E3E"/>
                </a:solidFill>
                <a:latin typeface="Arial"/>
                <a:ea typeface="Arial"/>
                <a:cs typeface="Arial"/>
              </a:defRPr>
            </a:lvl1pPr>
            <a:lvl2pPr>
              <a:defRPr sz="2625" b="1">
                <a:solidFill>
                  <a:srgbClr val="294E3E"/>
                </a:solidFill>
                <a:latin typeface="Arial"/>
                <a:ea typeface="Arial"/>
                <a:cs typeface="Arial"/>
              </a:defRPr>
            </a:lvl2pPr>
            <a:lvl3pPr>
              <a:defRPr sz="2625" b="1">
                <a:solidFill>
                  <a:srgbClr val="294E3E"/>
                </a:solidFill>
                <a:latin typeface="Arial"/>
                <a:ea typeface="Arial"/>
                <a:cs typeface="Arial"/>
              </a:defRPr>
            </a:lvl3pPr>
            <a:lvl4pPr>
              <a:defRPr sz="2625" b="1">
                <a:solidFill>
                  <a:srgbClr val="294E3E"/>
                </a:solidFill>
                <a:latin typeface="Arial"/>
                <a:ea typeface="Arial"/>
                <a:cs typeface="Arial"/>
              </a:defRPr>
            </a:lvl4pPr>
            <a:lvl5pPr>
              <a:defRPr sz="2625" b="1">
                <a:solidFill>
                  <a:srgbClr val="294E3E"/>
                </a:solidFill>
                <a:latin typeface="Arial"/>
                <a:ea typeface="Arial"/>
                <a:cs typeface="Arial"/>
              </a:defRPr>
            </a:lvl5pPr>
            <a:lvl6pPr>
              <a:defRPr sz="2625" b="1">
                <a:solidFill>
                  <a:srgbClr val="294E3E"/>
                </a:solidFill>
                <a:latin typeface="Arial"/>
                <a:ea typeface="Arial"/>
                <a:cs typeface="Arial"/>
              </a:defRPr>
            </a:lvl6pPr>
            <a:lvl7pPr>
              <a:defRPr sz="2625" b="1">
                <a:solidFill>
                  <a:srgbClr val="294E3E"/>
                </a:solidFill>
                <a:latin typeface="Arial"/>
                <a:ea typeface="Arial"/>
                <a:cs typeface="Arial"/>
              </a:defRPr>
            </a:lvl7pPr>
            <a:lvl8pPr>
              <a:defRPr sz="2625" b="1">
                <a:solidFill>
                  <a:srgbClr val="294E3E"/>
                </a:solidFill>
                <a:latin typeface="Arial"/>
                <a:ea typeface="Arial"/>
                <a:cs typeface="Arial"/>
              </a:defRPr>
            </a:lvl8pPr>
            <a:lvl9pPr>
              <a:defRPr sz="2625" b="1">
                <a:solidFill>
                  <a:srgbClr val="294E3E"/>
                </a:solidFill>
                <a:latin typeface="Arial"/>
                <a:ea typeface="Arial"/>
                <a:cs typeface="Arial"/>
              </a:defRPr>
            </a:lvl9pPr>
          </a:lstStyle>
          <a:p xmlns:a="http://schemas.openxmlformats.org/drawingml/2006/main">
            <a:pPr>
              <a:defRPr sz="2625" b="1">
                <a:solidFill>
                  <a:srgbClr val="294E3E"/>
                </a:solidFill>
                <a:latin typeface="Arial"/>
                <a:ea typeface="Arial"/>
                <a:cs typeface="Arial"/>
              </a:defRPr>
            </a:pPr>
            <a:r>
              <a:rPr sz="2625" b="1">
                <a:solidFill>
                  <a:srgbClr val="294E3E"/>
                </a:solidFill>
                <a:latin typeface="Arial"/>
                <a:ea typeface="Arial"/>
                <a:cs typeface="Arial"/>
              </a:rPr>
              <a:t>Working prototype</a:t>
            </a:r>
          </a:p>
        </p:txBody>
      </p:sp>
      <p:sp>
        <p:nvSpPr>
          <p:cNvPr id="6" name="">
            <a:extLst xmlns:a="http://schemas.openxmlformats.org/drawingml/2006/main">
              <a:ext uri="{FF2B5EF4-FFF2-40B4-BE49-F238E27FC236}">
                <a16:creationId xmlns:a16="http://schemas.microsoft.com/office/drawing/2014/main" id="{38B5D485-2263-4165-8487-4605A5FC90F2}"/>
              </a:ext>
            </a:extLst>
          </p:cNvPr>
          <p:cNvSpPr>
            <a:spLocks xmlns:a="http://schemas.openxmlformats.org/drawingml/2006/main" noGrp="1"/>
          </p:cNvSpPr>
          <p:nvPr/>
        </p:nvSpPr>
        <p:spPr>
          <a:xfrm xmlns:a="http://schemas.openxmlformats.org/drawingml/2006/main">
            <a:off x="2190750" y="2457450"/>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657365"/>
                </a:solidFill>
                <a:latin typeface="Arial"/>
                <a:ea typeface="Arial"/>
                <a:cs typeface="Arial"/>
              </a:defRPr>
            </a:defPPr>
            <a:lvl1pPr>
              <a:defRPr sz="1950" b="0">
                <a:solidFill>
                  <a:srgbClr val="657365"/>
                </a:solidFill>
                <a:latin typeface="Arial"/>
                <a:ea typeface="Arial"/>
                <a:cs typeface="Arial"/>
              </a:defRPr>
            </a:lvl1pPr>
            <a:lvl2pPr>
              <a:defRPr sz="1950" b="0">
                <a:solidFill>
                  <a:srgbClr val="657365"/>
                </a:solidFill>
                <a:latin typeface="Arial"/>
                <a:ea typeface="Arial"/>
                <a:cs typeface="Arial"/>
              </a:defRPr>
            </a:lvl2pPr>
            <a:lvl3pPr>
              <a:defRPr sz="1950" b="0">
                <a:solidFill>
                  <a:srgbClr val="657365"/>
                </a:solidFill>
                <a:latin typeface="Arial"/>
                <a:ea typeface="Arial"/>
                <a:cs typeface="Arial"/>
              </a:defRPr>
            </a:lvl3pPr>
            <a:lvl4pPr>
              <a:defRPr sz="1950" b="0">
                <a:solidFill>
                  <a:srgbClr val="657365"/>
                </a:solidFill>
                <a:latin typeface="Arial"/>
                <a:ea typeface="Arial"/>
                <a:cs typeface="Arial"/>
              </a:defRPr>
            </a:lvl4pPr>
            <a:lvl5pPr>
              <a:defRPr sz="1950" b="0">
                <a:solidFill>
                  <a:srgbClr val="657365"/>
                </a:solidFill>
                <a:latin typeface="Arial"/>
                <a:ea typeface="Arial"/>
                <a:cs typeface="Arial"/>
              </a:defRPr>
            </a:lvl5pPr>
            <a:lvl6pPr>
              <a:defRPr sz="1950" b="0">
                <a:solidFill>
                  <a:srgbClr val="657365"/>
                </a:solidFill>
                <a:latin typeface="Arial"/>
                <a:ea typeface="Arial"/>
                <a:cs typeface="Arial"/>
              </a:defRPr>
            </a:lvl6pPr>
            <a:lvl7pPr>
              <a:defRPr sz="1950" b="0">
                <a:solidFill>
                  <a:srgbClr val="657365"/>
                </a:solidFill>
                <a:latin typeface="Arial"/>
                <a:ea typeface="Arial"/>
                <a:cs typeface="Arial"/>
              </a:defRPr>
            </a:lvl7pPr>
            <a:lvl8pPr>
              <a:defRPr sz="1950" b="0">
                <a:solidFill>
                  <a:srgbClr val="657365"/>
                </a:solidFill>
                <a:latin typeface="Arial"/>
                <a:ea typeface="Arial"/>
                <a:cs typeface="Arial"/>
              </a:defRPr>
            </a:lvl8pPr>
            <a:lvl9pPr>
              <a:defRPr sz="1950" b="0">
                <a:solidFill>
                  <a:srgbClr val="657365"/>
                </a:solidFill>
                <a:latin typeface="Arial"/>
                <a:ea typeface="Arial"/>
                <a:cs typeface="Arial"/>
              </a:defRPr>
            </a:lvl9pPr>
          </a:lstStyle>
          <a:p xmlns:a="http://schemas.openxmlformats.org/drawingml/2006/main">
            <a:pPr>
              <a:defRPr sz="1950" b="0">
                <a:solidFill>
                  <a:srgbClr val="657365"/>
                </a:solidFill>
                <a:latin typeface="Arial"/>
                <a:ea typeface="Arial"/>
                <a:cs typeface="Arial"/>
              </a:defRPr>
            </a:pPr>
            <a:r>
              <a:rPr sz="1950" b="0">
                <a:solidFill>
                  <a:srgbClr val="657365"/>
                </a:solidFill>
                <a:latin typeface="Arial"/>
                <a:ea typeface="Arial"/>
                <a:cs typeface="Arial"/>
              </a:rPr>
              <a:t>50 questions, three missions, eligibility filters, profile and journal.</a:t>
            </a:r>
          </a:p>
        </p:txBody>
      </p:sp>
      <p:sp>
        <p:nvSpPr>
          <p:cNvPr id="7" name="">
            <a:extLst xmlns:a="http://schemas.openxmlformats.org/drawingml/2006/main">
              <a:ext uri="{FF2B5EF4-FFF2-40B4-BE49-F238E27FC236}">
                <a16:creationId xmlns:a16="http://schemas.microsoft.com/office/drawing/2014/main" id="{365A8EF5-BDB7-4631-9B20-AF50AC39D979}"/>
              </a:ext>
            </a:extLst>
          </p:cNvPr>
          <p:cNvSpPr>
            <a:spLocks xmlns:a="http://schemas.openxmlformats.org/drawingml/2006/main" noGrp="1"/>
          </p:cNvSpPr>
          <p:nvPr/>
        </p:nvSpPr>
        <p:spPr>
          <a:xfrm xmlns:a="http://schemas.openxmlformats.org/drawingml/2006/main">
            <a:off x="609600" y="33051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NEXT</a:t>
            </a:r>
          </a:p>
        </p:txBody>
      </p:sp>
      <p:sp>
        <p:nvSpPr>
          <p:cNvPr id="8" name="">
            <a:extLst xmlns:a="http://schemas.openxmlformats.org/drawingml/2006/main">
              <a:ext uri="{FF2B5EF4-FFF2-40B4-BE49-F238E27FC236}">
                <a16:creationId xmlns:a16="http://schemas.microsoft.com/office/drawing/2014/main" id="{F5C1FE72-1644-4A5F-8E84-81D1F856E81B}"/>
              </a:ext>
            </a:extLst>
          </p:cNvPr>
          <p:cNvSpPr>
            <a:spLocks xmlns:a="http://schemas.openxmlformats.org/drawingml/2006/main" noGrp="1"/>
          </p:cNvSpPr>
          <p:nvPr/>
        </p:nvSpPr>
        <p:spPr>
          <a:xfrm xmlns:a="http://schemas.openxmlformats.org/drawingml/2006/main">
            <a:off x="2190750" y="326707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94E3E"/>
                </a:solidFill>
                <a:latin typeface="Arial"/>
                <a:ea typeface="Arial"/>
                <a:cs typeface="Arial"/>
              </a:defRPr>
            </a:defPPr>
            <a:lvl1pPr>
              <a:defRPr sz="2625" b="1">
                <a:solidFill>
                  <a:srgbClr val="294E3E"/>
                </a:solidFill>
                <a:latin typeface="Arial"/>
                <a:ea typeface="Arial"/>
                <a:cs typeface="Arial"/>
              </a:defRPr>
            </a:lvl1pPr>
            <a:lvl2pPr>
              <a:defRPr sz="2625" b="1">
                <a:solidFill>
                  <a:srgbClr val="294E3E"/>
                </a:solidFill>
                <a:latin typeface="Arial"/>
                <a:ea typeface="Arial"/>
                <a:cs typeface="Arial"/>
              </a:defRPr>
            </a:lvl2pPr>
            <a:lvl3pPr>
              <a:defRPr sz="2625" b="1">
                <a:solidFill>
                  <a:srgbClr val="294E3E"/>
                </a:solidFill>
                <a:latin typeface="Arial"/>
                <a:ea typeface="Arial"/>
                <a:cs typeface="Arial"/>
              </a:defRPr>
            </a:lvl3pPr>
            <a:lvl4pPr>
              <a:defRPr sz="2625" b="1">
                <a:solidFill>
                  <a:srgbClr val="294E3E"/>
                </a:solidFill>
                <a:latin typeface="Arial"/>
                <a:ea typeface="Arial"/>
                <a:cs typeface="Arial"/>
              </a:defRPr>
            </a:lvl4pPr>
            <a:lvl5pPr>
              <a:defRPr sz="2625" b="1">
                <a:solidFill>
                  <a:srgbClr val="294E3E"/>
                </a:solidFill>
                <a:latin typeface="Arial"/>
                <a:ea typeface="Arial"/>
                <a:cs typeface="Arial"/>
              </a:defRPr>
            </a:lvl5pPr>
            <a:lvl6pPr>
              <a:defRPr sz="2625" b="1">
                <a:solidFill>
                  <a:srgbClr val="294E3E"/>
                </a:solidFill>
                <a:latin typeface="Arial"/>
                <a:ea typeface="Arial"/>
                <a:cs typeface="Arial"/>
              </a:defRPr>
            </a:lvl6pPr>
            <a:lvl7pPr>
              <a:defRPr sz="2625" b="1">
                <a:solidFill>
                  <a:srgbClr val="294E3E"/>
                </a:solidFill>
                <a:latin typeface="Arial"/>
                <a:ea typeface="Arial"/>
                <a:cs typeface="Arial"/>
              </a:defRPr>
            </a:lvl7pPr>
            <a:lvl8pPr>
              <a:defRPr sz="2625" b="1">
                <a:solidFill>
                  <a:srgbClr val="294E3E"/>
                </a:solidFill>
                <a:latin typeface="Arial"/>
                <a:ea typeface="Arial"/>
                <a:cs typeface="Arial"/>
              </a:defRPr>
            </a:lvl8pPr>
            <a:lvl9pPr>
              <a:defRPr sz="2625" b="1">
                <a:solidFill>
                  <a:srgbClr val="294E3E"/>
                </a:solidFill>
                <a:latin typeface="Arial"/>
                <a:ea typeface="Arial"/>
                <a:cs typeface="Arial"/>
              </a:defRPr>
            </a:lvl9pPr>
          </a:lstStyle>
          <a:p xmlns:a="http://schemas.openxmlformats.org/drawingml/2006/main">
            <a:pPr>
              <a:defRPr sz="2625" b="1">
                <a:solidFill>
                  <a:srgbClr val="294E3E"/>
                </a:solidFill>
                <a:latin typeface="Arial"/>
                <a:ea typeface="Arial"/>
                <a:cs typeface="Arial"/>
              </a:defRPr>
            </a:pPr>
            <a:r>
              <a:rPr sz="2625" b="1">
                <a:solidFill>
                  <a:srgbClr val="294E3E"/>
                </a:solidFill>
                <a:latin typeface="Arial"/>
                <a:ea typeface="Arial"/>
                <a:cs typeface="Arial"/>
              </a:rPr>
              <a:t>School pilot</a:t>
            </a:r>
          </a:p>
        </p:txBody>
      </p:sp>
      <p:sp>
        <p:nvSpPr>
          <p:cNvPr id="9" name="">
            <a:extLst xmlns:a="http://schemas.openxmlformats.org/drawingml/2006/main">
              <a:ext uri="{FF2B5EF4-FFF2-40B4-BE49-F238E27FC236}">
                <a16:creationId xmlns:a16="http://schemas.microsoft.com/office/drawing/2014/main" id="{B847EA49-91E8-4FAF-927C-7AFDE56C3BD9}"/>
              </a:ext>
            </a:extLst>
          </p:cNvPr>
          <p:cNvSpPr>
            <a:spLocks xmlns:a="http://schemas.openxmlformats.org/drawingml/2006/main" noGrp="1"/>
          </p:cNvSpPr>
          <p:nvPr/>
        </p:nvSpPr>
        <p:spPr>
          <a:xfrm xmlns:a="http://schemas.openxmlformats.org/drawingml/2006/main">
            <a:off x="2190750" y="3810000"/>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657365"/>
                </a:solidFill>
                <a:latin typeface="Arial"/>
                <a:ea typeface="Arial"/>
                <a:cs typeface="Arial"/>
              </a:defRPr>
            </a:defPPr>
            <a:lvl1pPr>
              <a:defRPr sz="1950" b="0">
                <a:solidFill>
                  <a:srgbClr val="657365"/>
                </a:solidFill>
                <a:latin typeface="Arial"/>
                <a:ea typeface="Arial"/>
                <a:cs typeface="Arial"/>
              </a:defRPr>
            </a:lvl1pPr>
            <a:lvl2pPr>
              <a:defRPr sz="1950" b="0">
                <a:solidFill>
                  <a:srgbClr val="657365"/>
                </a:solidFill>
                <a:latin typeface="Arial"/>
                <a:ea typeface="Arial"/>
                <a:cs typeface="Arial"/>
              </a:defRPr>
            </a:lvl2pPr>
            <a:lvl3pPr>
              <a:defRPr sz="1950" b="0">
                <a:solidFill>
                  <a:srgbClr val="657365"/>
                </a:solidFill>
                <a:latin typeface="Arial"/>
                <a:ea typeface="Arial"/>
                <a:cs typeface="Arial"/>
              </a:defRPr>
            </a:lvl3pPr>
            <a:lvl4pPr>
              <a:defRPr sz="1950" b="0">
                <a:solidFill>
                  <a:srgbClr val="657365"/>
                </a:solidFill>
                <a:latin typeface="Arial"/>
                <a:ea typeface="Arial"/>
                <a:cs typeface="Arial"/>
              </a:defRPr>
            </a:lvl4pPr>
            <a:lvl5pPr>
              <a:defRPr sz="1950" b="0">
                <a:solidFill>
                  <a:srgbClr val="657365"/>
                </a:solidFill>
                <a:latin typeface="Arial"/>
                <a:ea typeface="Arial"/>
                <a:cs typeface="Arial"/>
              </a:defRPr>
            </a:lvl5pPr>
            <a:lvl6pPr>
              <a:defRPr sz="1950" b="0">
                <a:solidFill>
                  <a:srgbClr val="657365"/>
                </a:solidFill>
                <a:latin typeface="Arial"/>
                <a:ea typeface="Arial"/>
                <a:cs typeface="Arial"/>
              </a:defRPr>
            </a:lvl6pPr>
            <a:lvl7pPr>
              <a:defRPr sz="1950" b="0">
                <a:solidFill>
                  <a:srgbClr val="657365"/>
                </a:solidFill>
                <a:latin typeface="Arial"/>
                <a:ea typeface="Arial"/>
                <a:cs typeface="Arial"/>
              </a:defRPr>
            </a:lvl7pPr>
            <a:lvl8pPr>
              <a:defRPr sz="1950" b="0">
                <a:solidFill>
                  <a:srgbClr val="657365"/>
                </a:solidFill>
                <a:latin typeface="Arial"/>
                <a:ea typeface="Arial"/>
                <a:cs typeface="Arial"/>
              </a:defRPr>
            </a:lvl8pPr>
            <a:lvl9pPr>
              <a:defRPr sz="1950" b="0">
                <a:solidFill>
                  <a:srgbClr val="657365"/>
                </a:solidFill>
                <a:latin typeface="Arial"/>
                <a:ea typeface="Arial"/>
                <a:cs typeface="Arial"/>
              </a:defRPr>
            </a:lvl9pPr>
          </a:lstStyle>
          <a:p xmlns:a="http://schemas.openxmlformats.org/drawingml/2006/main">
            <a:pPr>
              <a:defRPr sz="1950" b="0">
                <a:solidFill>
                  <a:srgbClr val="657365"/>
                </a:solidFill>
                <a:latin typeface="Arial"/>
                <a:ea typeface="Arial"/>
                <a:cs typeface="Arial"/>
              </a:defRPr>
            </a:pPr>
            <a:r>
              <a:rPr sz="1950" b="0">
                <a:solidFill>
                  <a:srgbClr val="657365"/>
                </a:solidFill>
                <a:latin typeface="Arial"/>
                <a:ea typeface="Arial"/>
                <a:cs typeface="Arial"/>
              </a:rPr>
              <a:t>Observe completion, review feedback, and improve confusing tasks.</a:t>
            </a:r>
          </a:p>
        </p:txBody>
      </p:sp>
      <p:sp>
        <p:nvSpPr>
          <p:cNvPr id="10" name="">
            <a:extLst xmlns:a="http://schemas.openxmlformats.org/drawingml/2006/main">
              <a:ext uri="{FF2B5EF4-FFF2-40B4-BE49-F238E27FC236}">
                <a16:creationId xmlns:a16="http://schemas.microsoft.com/office/drawing/2014/main" id="{28729E88-A5F4-4BBB-9689-C279B106F558}"/>
              </a:ext>
            </a:extLst>
          </p:cNvPr>
          <p:cNvSpPr>
            <a:spLocks xmlns:a="http://schemas.openxmlformats.org/drawingml/2006/main" noGrp="1"/>
          </p:cNvSpPr>
          <p:nvPr/>
        </p:nvSpPr>
        <p:spPr>
          <a:xfrm xmlns:a="http://schemas.openxmlformats.org/drawingml/2006/main">
            <a:off x="609600" y="46577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B9754B"/>
                </a:solidFill>
                <a:latin typeface="Arial"/>
                <a:ea typeface="Arial"/>
                <a:cs typeface="Arial"/>
              </a:defRPr>
            </a:defPPr>
            <a:lvl1pPr>
              <a:defRPr sz="1275" b="1">
                <a:solidFill>
                  <a:srgbClr val="B9754B"/>
                </a:solidFill>
                <a:latin typeface="Arial"/>
                <a:ea typeface="Arial"/>
                <a:cs typeface="Arial"/>
              </a:defRPr>
            </a:lvl1pPr>
            <a:lvl2pPr>
              <a:defRPr sz="1275" b="1">
                <a:solidFill>
                  <a:srgbClr val="B9754B"/>
                </a:solidFill>
                <a:latin typeface="Arial"/>
                <a:ea typeface="Arial"/>
                <a:cs typeface="Arial"/>
              </a:defRPr>
            </a:lvl2pPr>
            <a:lvl3pPr>
              <a:defRPr sz="1275" b="1">
                <a:solidFill>
                  <a:srgbClr val="B9754B"/>
                </a:solidFill>
                <a:latin typeface="Arial"/>
                <a:ea typeface="Arial"/>
                <a:cs typeface="Arial"/>
              </a:defRPr>
            </a:lvl3pPr>
            <a:lvl4pPr>
              <a:defRPr sz="1275" b="1">
                <a:solidFill>
                  <a:srgbClr val="B9754B"/>
                </a:solidFill>
                <a:latin typeface="Arial"/>
                <a:ea typeface="Arial"/>
                <a:cs typeface="Arial"/>
              </a:defRPr>
            </a:lvl4pPr>
            <a:lvl5pPr>
              <a:defRPr sz="1275" b="1">
                <a:solidFill>
                  <a:srgbClr val="B9754B"/>
                </a:solidFill>
                <a:latin typeface="Arial"/>
                <a:ea typeface="Arial"/>
                <a:cs typeface="Arial"/>
              </a:defRPr>
            </a:lvl5pPr>
            <a:lvl6pPr>
              <a:defRPr sz="1275" b="1">
                <a:solidFill>
                  <a:srgbClr val="B9754B"/>
                </a:solidFill>
                <a:latin typeface="Arial"/>
                <a:ea typeface="Arial"/>
                <a:cs typeface="Arial"/>
              </a:defRPr>
            </a:lvl6pPr>
            <a:lvl7pPr>
              <a:defRPr sz="1275" b="1">
                <a:solidFill>
                  <a:srgbClr val="B9754B"/>
                </a:solidFill>
                <a:latin typeface="Arial"/>
                <a:ea typeface="Arial"/>
                <a:cs typeface="Arial"/>
              </a:defRPr>
            </a:lvl7pPr>
            <a:lvl8pPr>
              <a:defRPr sz="1275" b="1">
                <a:solidFill>
                  <a:srgbClr val="B9754B"/>
                </a:solidFill>
                <a:latin typeface="Arial"/>
                <a:ea typeface="Arial"/>
                <a:cs typeface="Arial"/>
              </a:defRPr>
            </a:lvl8pPr>
            <a:lvl9pPr>
              <a:defRPr sz="1275" b="1">
                <a:solidFill>
                  <a:srgbClr val="B9754B"/>
                </a:solidFill>
                <a:latin typeface="Arial"/>
                <a:ea typeface="Arial"/>
                <a:cs typeface="Arial"/>
              </a:defRPr>
            </a:lvl9pPr>
          </a:lstStyle>
          <a:p xmlns:a="http://schemas.openxmlformats.org/drawingml/2006/main">
            <a:pPr>
              <a:defRPr sz="1275" b="1">
                <a:solidFill>
                  <a:srgbClr val="B9754B"/>
                </a:solidFill>
                <a:latin typeface="Arial"/>
                <a:ea typeface="Arial"/>
                <a:cs typeface="Arial"/>
              </a:defRPr>
            </a:pPr>
            <a:r>
              <a:rPr sz="1275" b="1">
                <a:solidFill>
                  <a:srgbClr val="B9754B"/>
                </a:solidFill>
                <a:latin typeface="Arial"/>
                <a:ea typeface="Arial"/>
                <a:cs typeface="Arial"/>
              </a:rPr>
              <a:t>THEN</a:t>
            </a:r>
          </a:p>
        </p:txBody>
      </p:sp>
      <p:sp>
        <p:nvSpPr>
          <p:cNvPr id="11" name="">
            <a:extLst xmlns:a="http://schemas.openxmlformats.org/drawingml/2006/main">
              <a:ext uri="{FF2B5EF4-FFF2-40B4-BE49-F238E27FC236}">
                <a16:creationId xmlns:a16="http://schemas.microsoft.com/office/drawing/2014/main" id="{E416B23D-66AB-44B9-B08C-B4C77BEE0B40}"/>
              </a:ext>
            </a:extLst>
          </p:cNvPr>
          <p:cNvSpPr>
            <a:spLocks xmlns:a="http://schemas.openxmlformats.org/drawingml/2006/main" noGrp="1"/>
          </p:cNvSpPr>
          <p:nvPr/>
        </p:nvSpPr>
        <p:spPr>
          <a:xfrm xmlns:a="http://schemas.openxmlformats.org/drawingml/2006/main">
            <a:off x="2190750" y="46196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94E3E"/>
                </a:solidFill>
                <a:latin typeface="Arial"/>
                <a:ea typeface="Arial"/>
                <a:cs typeface="Arial"/>
              </a:defRPr>
            </a:defPPr>
            <a:lvl1pPr>
              <a:defRPr sz="2625" b="1">
                <a:solidFill>
                  <a:srgbClr val="294E3E"/>
                </a:solidFill>
                <a:latin typeface="Arial"/>
                <a:ea typeface="Arial"/>
                <a:cs typeface="Arial"/>
              </a:defRPr>
            </a:lvl1pPr>
            <a:lvl2pPr>
              <a:defRPr sz="2625" b="1">
                <a:solidFill>
                  <a:srgbClr val="294E3E"/>
                </a:solidFill>
                <a:latin typeface="Arial"/>
                <a:ea typeface="Arial"/>
                <a:cs typeface="Arial"/>
              </a:defRPr>
            </a:lvl2pPr>
            <a:lvl3pPr>
              <a:defRPr sz="2625" b="1">
                <a:solidFill>
                  <a:srgbClr val="294E3E"/>
                </a:solidFill>
                <a:latin typeface="Arial"/>
                <a:ea typeface="Arial"/>
                <a:cs typeface="Arial"/>
              </a:defRPr>
            </a:lvl3pPr>
            <a:lvl4pPr>
              <a:defRPr sz="2625" b="1">
                <a:solidFill>
                  <a:srgbClr val="294E3E"/>
                </a:solidFill>
                <a:latin typeface="Arial"/>
                <a:ea typeface="Arial"/>
                <a:cs typeface="Arial"/>
              </a:defRPr>
            </a:lvl4pPr>
            <a:lvl5pPr>
              <a:defRPr sz="2625" b="1">
                <a:solidFill>
                  <a:srgbClr val="294E3E"/>
                </a:solidFill>
                <a:latin typeface="Arial"/>
                <a:ea typeface="Arial"/>
                <a:cs typeface="Arial"/>
              </a:defRPr>
            </a:lvl5pPr>
            <a:lvl6pPr>
              <a:defRPr sz="2625" b="1">
                <a:solidFill>
                  <a:srgbClr val="294E3E"/>
                </a:solidFill>
                <a:latin typeface="Arial"/>
                <a:ea typeface="Arial"/>
                <a:cs typeface="Arial"/>
              </a:defRPr>
            </a:lvl6pPr>
            <a:lvl7pPr>
              <a:defRPr sz="2625" b="1">
                <a:solidFill>
                  <a:srgbClr val="294E3E"/>
                </a:solidFill>
                <a:latin typeface="Arial"/>
                <a:ea typeface="Arial"/>
                <a:cs typeface="Arial"/>
              </a:defRPr>
            </a:lvl7pPr>
            <a:lvl8pPr>
              <a:defRPr sz="2625" b="1">
                <a:solidFill>
                  <a:srgbClr val="294E3E"/>
                </a:solidFill>
                <a:latin typeface="Arial"/>
                <a:ea typeface="Arial"/>
                <a:cs typeface="Arial"/>
              </a:defRPr>
            </a:lvl8pPr>
            <a:lvl9pPr>
              <a:defRPr sz="2625" b="1">
                <a:solidFill>
                  <a:srgbClr val="294E3E"/>
                </a:solidFill>
                <a:latin typeface="Arial"/>
                <a:ea typeface="Arial"/>
                <a:cs typeface="Arial"/>
              </a:defRPr>
            </a:lvl9pPr>
          </a:lstStyle>
          <a:p xmlns:a="http://schemas.openxmlformats.org/drawingml/2006/main">
            <a:pPr>
              <a:defRPr sz="2625" b="1">
                <a:solidFill>
                  <a:srgbClr val="294E3E"/>
                </a:solidFill>
                <a:latin typeface="Arial"/>
                <a:ea typeface="Arial"/>
                <a:cs typeface="Arial"/>
              </a:defRPr>
            </a:pPr>
            <a:r>
              <a:rPr sz="2625" b="1">
                <a:solidFill>
                  <a:srgbClr val="294E3E"/>
                </a:solidFill>
                <a:latin typeface="Arial"/>
                <a:ea typeface="Arial"/>
                <a:cs typeface="Arial"/>
              </a:rPr>
              <a:t>Deeper simulations</a:t>
            </a:r>
          </a:p>
        </p:txBody>
      </p:sp>
      <p:sp>
        <p:nvSpPr>
          <p:cNvPr id="12" name="">
            <a:extLst xmlns:a="http://schemas.openxmlformats.org/drawingml/2006/main">
              <a:ext uri="{FF2B5EF4-FFF2-40B4-BE49-F238E27FC236}">
                <a16:creationId xmlns:a16="http://schemas.microsoft.com/office/drawing/2014/main" id="{EB38D342-6170-43C3-A59B-20F8EF9AB25E}"/>
              </a:ext>
            </a:extLst>
          </p:cNvPr>
          <p:cNvSpPr>
            <a:spLocks xmlns:a="http://schemas.openxmlformats.org/drawingml/2006/main" noGrp="1"/>
          </p:cNvSpPr>
          <p:nvPr/>
        </p:nvSpPr>
        <p:spPr>
          <a:xfrm xmlns:a="http://schemas.openxmlformats.org/drawingml/2006/main">
            <a:off x="2190750" y="5162550"/>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657365"/>
                </a:solidFill>
                <a:latin typeface="Arial"/>
                <a:ea typeface="Arial"/>
                <a:cs typeface="Arial"/>
              </a:defRPr>
            </a:defPPr>
            <a:lvl1pPr>
              <a:defRPr sz="1950" b="0">
                <a:solidFill>
                  <a:srgbClr val="657365"/>
                </a:solidFill>
                <a:latin typeface="Arial"/>
                <a:ea typeface="Arial"/>
                <a:cs typeface="Arial"/>
              </a:defRPr>
            </a:lvl1pPr>
            <a:lvl2pPr>
              <a:defRPr sz="1950" b="0">
                <a:solidFill>
                  <a:srgbClr val="657365"/>
                </a:solidFill>
                <a:latin typeface="Arial"/>
                <a:ea typeface="Arial"/>
                <a:cs typeface="Arial"/>
              </a:defRPr>
            </a:lvl2pPr>
            <a:lvl3pPr>
              <a:defRPr sz="1950" b="0">
                <a:solidFill>
                  <a:srgbClr val="657365"/>
                </a:solidFill>
                <a:latin typeface="Arial"/>
                <a:ea typeface="Arial"/>
                <a:cs typeface="Arial"/>
              </a:defRPr>
            </a:lvl3pPr>
            <a:lvl4pPr>
              <a:defRPr sz="1950" b="0">
                <a:solidFill>
                  <a:srgbClr val="657365"/>
                </a:solidFill>
                <a:latin typeface="Arial"/>
                <a:ea typeface="Arial"/>
                <a:cs typeface="Arial"/>
              </a:defRPr>
            </a:lvl4pPr>
            <a:lvl5pPr>
              <a:defRPr sz="1950" b="0">
                <a:solidFill>
                  <a:srgbClr val="657365"/>
                </a:solidFill>
                <a:latin typeface="Arial"/>
                <a:ea typeface="Arial"/>
                <a:cs typeface="Arial"/>
              </a:defRPr>
            </a:lvl5pPr>
            <a:lvl6pPr>
              <a:defRPr sz="1950" b="0">
                <a:solidFill>
                  <a:srgbClr val="657365"/>
                </a:solidFill>
                <a:latin typeface="Arial"/>
                <a:ea typeface="Arial"/>
                <a:cs typeface="Arial"/>
              </a:defRPr>
            </a:lvl6pPr>
            <a:lvl7pPr>
              <a:defRPr sz="1950" b="0">
                <a:solidFill>
                  <a:srgbClr val="657365"/>
                </a:solidFill>
                <a:latin typeface="Arial"/>
                <a:ea typeface="Arial"/>
                <a:cs typeface="Arial"/>
              </a:defRPr>
            </a:lvl7pPr>
            <a:lvl8pPr>
              <a:defRPr sz="1950" b="0">
                <a:solidFill>
                  <a:srgbClr val="657365"/>
                </a:solidFill>
                <a:latin typeface="Arial"/>
                <a:ea typeface="Arial"/>
                <a:cs typeface="Arial"/>
              </a:defRPr>
            </a:lvl8pPr>
            <a:lvl9pPr>
              <a:defRPr sz="1950" b="0">
                <a:solidFill>
                  <a:srgbClr val="657365"/>
                </a:solidFill>
                <a:latin typeface="Arial"/>
                <a:ea typeface="Arial"/>
                <a:cs typeface="Arial"/>
              </a:defRPr>
            </a:lvl9pPr>
          </a:lstStyle>
          <a:p xmlns:a="http://schemas.openxmlformats.org/drawingml/2006/main">
            <a:pPr>
              <a:defRPr sz="1950" b="0">
                <a:solidFill>
                  <a:srgbClr val="657365"/>
                </a:solidFill>
                <a:latin typeface="Arial"/>
                <a:ea typeface="Arial"/>
                <a:cs typeface="Arial"/>
              </a:defRPr>
            </a:pPr>
            <a:r>
              <a:rPr sz="1950" b="0">
                <a:solidFill>
                  <a:srgbClr val="657365"/>
                </a:solidFill>
                <a:latin typeface="Arial"/>
                <a:ea typeface="Arial"/>
                <a:cs typeface="Arial"/>
              </a:rPr>
              <a:t>Add open-ended work, more career missions, and reviewed AI support.</a:t>
            </a:r>
          </a:p>
        </p:txBody>
      </p:sp>
    </p:spTree>
    <p:extLst>
      <p:ext uri="{BB962C8B-B14F-4D97-AF65-F5344CB8AC3E}">
        <p14:creationId xmlns:p14="http://schemas.microsoft.com/office/powerpoint/2010/main" val="1932392871"/>
      </p:ext>
    </p:extLst>
  </p:cSld>
</p:sld>
</file>

<file path=ppt/slides/slide13.xml><?xml version="1.0" encoding="utf-8"?>
<p:sld xmlns:p="http://schemas.openxmlformats.org/presentationml/2006/main">
  <p:cSld>
    <p:bg>
      <p:bgPr>
        <a:solidFill xmlns:a="http://schemas.openxmlformats.org/drawingml/2006/main">
          <a:srgbClr val="294E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DEBB86-E7A2-4703-9795-E5692825BA98}"/>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8F8F2"/>
                </a:solidFill>
                <a:latin typeface="Arial"/>
                <a:ea typeface="Arial"/>
                <a:cs typeface="Arial"/>
              </a:defRPr>
            </a:defPPr>
            <a:lvl1pPr>
              <a:defRPr sz="3450" b="1">
                <a:solidFill>
                  <a:srgbClr val="F8F8F2"/>
                </a:solidFill>
                <a:latin typeface="Arial"/>
                <a:ea typeface="Arial"/>
                <a:cs typeface="Arial"/>
              </a:defRPr>
            </a:lvl1pPr>
            <a:lvl2pPr>
              <a:defRPr sz="3450" b="1">
                <a:solidFill>
                  <a:srgbClr val="F8F8F2"/>
                </a:solidFill>
                <a:latin typeface="Arial"/>
                <a:ea typeface="Arial"/>
                <a:cs typeface="Arial"/>
              </a:defRPr>
            </a:lvl2pPr>
            <a:lvl3pPr>
              <a:defRPr sz="3450" b="1">
                <a:solidFill>
                  <a:srgbClr val="F8F8F2"/>
                </a:solidFill>
                <a:latin typeface="Arial"/>
                <a:ea typeface="Arial"/>
                <a:cs typeface="Arial"/>
              </a:defRPr>
            </a:lvl3pPr>
            <a:lvl4pPr>
              <a:defRPr sz="3450" b="1">
                <a:solidFill>
                  <a:srgbClr val="F8F8F2"/>
                </a:solidFill>
                <a:latin typeface="Arial"/>
                <a:ea typeface="Arial"/>
                <a:cs typeface="Arial"/>
              </a:defRPr>
            </a:lvl4pPr>
            <a:lvl5pPr>
              <a:defRPr sz="3450" b="1">
                <a:solidFill>
                  <a:srgbClr val="F8F8F2"/>
                </a:solidFill>
                <a:latin typeface="Arial"/>
                <a:ea typeface="Arial"/>
                <a:cs typeface="Arial"/>
              </a:defRPr>
            </a:lvl5pPr>
            <a:lvl6pPr>
              <a:defRPr sz="3450" b="1">
                <a:solidFill>
                  <a:srgbClr val="F8F8F2"/>
                </a:solidFill>
                <a:latin typeface="Arial"/>
                <a:ea typeface="Arial"/>
                <a:cs typeface="Arial"/>
              </a:defRPr>
            </a:lvl6pPr>
            <a:lvl7pPr>
              <a:defRPr sz="3450" b="1">
                <a:solidFill>
                  <a:srgbClr val="F8F8F2"/>
                </a:solidFill>
                <a:latin typeface="Arial"/>
                <a:ea typeface="Arial"/>
                <a:cs typeface="Arial"/>
              </a:defRPr>
            </a:lvl7pPr>
            <a:lvl8pPr>
              <a:defRPr sz="3450" b="1">
                <a:solidFill>
                  <a:srgbClr val="F8F8F2"/>
                </a:solidFill>
                <a:latin typeface="Arial"/>
                <a:ea typeface="Arial"/>
                <a:cs typeface="Arial"/>
              </a:defRPr>
            </a:lvl8pPr>
            <a:lvl9pPr>
              <a:defRPr sz="3450" b="1">
                <a:solidFill>
                  <a:srgbClr val="F8F8F2"/>
                </a:solidFill>
                <a:latin typeface="Arial"/>
                <a:ea typeface="Arial"/>
                <a:cs typeface="Arial"/>
              </a:defRPr>
            </a:lvl9pPr>
          </a:lstStyle>
          <a:p xmlns:a="http://schemas.openxmlformats.org/drawingml/2006/main">
            <a:pPr>
              <a:defRPr sz="3450" b="1">
                <a:solidFill>
                  <a:srgbClr val="F8F8F2"/>
                </a:solidFill>
                <a:latin typeface="Arial"/>
                <a:ea typeface="Arial"/>
                <a:cs typeface="Arial"/>
              </a:defRPr>
            </a:pPr>
            <a:r>
              <a:rPr sz="3450" b="1">
                <a:solidFill>
                  <a:srgbClr val="F8F8F2"/>
                </a:solidFill>
                <a:latin typeface="Arial"/>
                <a:ea typeface="Arial"/>
                <a:cs typeface="Arial"/>
              </a:rPr>
              <a:t>The next step: a school pilot</a:t>
            </a:r>
          </a:p>
        </p:txBody>
      </p:sp>
      <p:sp>
        <p:nvSpPr>
          <p:cNvPr id="2" name="">
            <a:extLst xmlns:a="http://schemas.openxmlformats.org/drawingml/2006/main">
              <a:ext uri="{FF2B5EF4-FFF2-40B4-BE49-F238E27FC236}">
                <a16:creationId xmlns:a16="http://schemas.microsoft.com/office/drawing/2014/main" id="{32C755AB-7E29-44DB-8239-8A5BE34003E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DCE7D3"/>
                </a:solidFill>
                <a:latin typeface="Arial"/>
                <a:ea typeface="Arial"/>
                <a:cs typeface="Arial"/>
              </a:defRPr>
            </a:defPPr>
            <a:lvl1pPr>
              <a:defRPr sz="1125" b="0">
                <a:solidFill>
                  <a:srgbClr val="DCE7D3"/>
                </a:solidFill>
                <a:latin typeface="Arial"/>
                <a:ea typeface="Arial"/>
                <a:cs typeface="Arial"/>
              </a:defRPr>
            </a:lvl1pPr>
            <a:lvl2pPr>
              <a:defRPr sz="1125" b="0">
                <a:solidFill>
                  <a:srgbClr val="DCE7D3"/>
                </a:solidFill>
                <a:latin typeface="Arial"/>
                <a:ea typeface="Arial"/>
                <a:cs typeface="Arial"/>
              </a:defRPr>
            </a:lvl2pPr>
            <a:lvl3pPr>
              <a:defRPr sz="1125" b="0">
                <a:solidFill>
                  <a:srgbClr val="DCE7D3"/>
                </a:solidFill>
                <a:latin typeface="Arial"/>
                <a:ea typeface="Arial"/>
                <a:cs typeface="Arial"/>
              </a:defRPr>
            </a:lvl3pPr>
            <a:lvl4pPr>
              <a:defRPr sz="1125" b="0">
                <a:solidFill>
                  <a:srgbClr val="DCE7D3"/>
                </a:solidFill>
                <a:latin typeface="Arial"/>
                <a:ea typeface="Arial"/>
                <a:cs typeface="Arial"/>
              </a:defRPr>
            </a:lvl4pPr>
            <a:lvl5pPr>
              <a:defRPr sz="1125" b="0">
                <a:solidFill>
                  <a:srgbClr val="DCE7D3"/>
                </a:solidFill>
                <a:latin typeface="Arial"/>
                <a:ea typeface="Arial"/>
                <a:cs typeface="Arial"/>
              </a:defRPr>
            </a:lvl5pPr>
            <a:lvl6pPr>
              <a:defRPr sz="1125" b="0">
                <a:solidFill>
                  <a:srgbClr val="DCE7D3"/>
                </a:solidFill>
                <a:latin typeface="Arial"/>
                <a:ea typeface="Arial"/>
                <a:cs typeface="Arial"/>
              </a:defRPr>
            </a:lvl6pPr>
            <a:lvl7pPr>
              <a:defRPr sz="1125" b="0">
                <a:solidFill>
                  <a:srgbClr val="DCE7D3"/>
                </a:solidFill>
                <a:latin typeface="Arial"/>
                <a:ea typeface="Arial"/>
                <a:cs typeface="Arial"/>
              </a:defRPr>
            </a:lvl7pPr>
            <a:lvl8pPr>
              <a:defRPr sz="1125" b="0">
                <a:solidFill>
                  <a:srgbClr val="DCE7D3"/>
                </a:solidFill>
                <a:latin typeface="Arial"/>
                <a:ea typeface="Arial"/>
                <a:cs typeface="Arial"/>
              </a:defRPr>
            </a:lvl8pPr>
            <a:lvl9pPr>
              <a:defRPr sz="1125" b="0">
                <a:solidFill>
                  <a:srgbClr val="DCE7D3"/>
                </a:solidFill>
                <a:latin typeface="Arial"/>
                <a:ea typeface="Arial"/>
                <a:cs typeface="Arial"/>
              </a:defRPr>
            </a:lvl9pPr>
          </a:lstStyle>
          <a:p xmlns:a="http://schemas.openxmlformats.org/drawingml/2006/main">
            <a:pPr>
              <a:defRPr sz="1125" b="0">
                <a:solidFill>
                  <a:srgbClr val="DCE7D3"/>
                </a:solidFill>
                <a:latin typeface="Arial"/>
                <a:ea typeface="Arial"/>
                <a:cs typeface="Arial"/>
              </a:defRPr>
            </a:pPr>
            <a:r>
              <a:rPr sz="1125" b="0">
                <a:solidFill>
                  <a:srgbClr val="DCE7D3"/>
                </a:solidFill>
                <a:latin typeface="Arial"/>
                <a:ea typeface="Arial"/>
                <a:cs typeface="Arial"/>
              </a:rPr>
              <a:t>FutureMe Lab</a:t>
            </a:r>
          </a:p>
        </p:txBody>
      </p:sp>
      <p:sp>
        <p:nvSpPr>
          <p:cNvPr id="3" name="">
            <a:extLst xmlns:a="http://schemas.openxmlformats.org/drawingml/2006/main">
              <a:ext uri="{FF2B5EF4-FFF2-40B4-BE49-F238E27FC236}">
                <a16:creationId xmlns:a16="http://schemas.microsoft.com/office/drawing/2014/main" id="{DD076EEF-357E-4EA9-905D-E1E107002015}"/>
              </a:ext>
            </a:extLst>
          </p:cNvPr>
          <p:cNvSpPr>
            <a:spLocks xmlns:a="http://schemas.openxmlformats.org/drawingml/2006/main" noGrp="1"/>
          </p:cNvSpPr>
          <p:nvPr/>
        </p:nvSpPr>
        <p:spPr>
          <a:xfrm xmlns:a="http://schemas.openxmlformats.org/drawingml/2006/main">
            <a:off x="11049000" y="63627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DCE7D3"/>
                </a:solidFill>
                <a:latin typeface="Arial"/>
                <a:ea typeface="Arial"/>
                <a:cs typeface="Arial"/>
              </a:defRPr>
            </a:defPPr>
            <a:lvl1pPr>
              <a:defRPr sz="1125" b="0">
                <a:solidFill>
                  <a:srgbClr val="DCE7D3"/>
                </a:solidFill>
                <a:latin typeface="Arial"/>
                <a:ea typeface="Arial"/>
                <a:cs typeface="Arial"/>
              </a:defRPr>
            </a:lvl1pPr>
            <a:lvl2pPr>
              <a:defRPr sz="1125" b="0">
                <a:solidFill>
                  <a:srgbClr val="DCE7D3"/>
                </a:solidFill>
                <a:latin typeface="Arial"/>
                <a:ea typeface="Arial"/>
                <a:cs typeface="Arial"/>
              </a:defRPr>
            </a:lvl2pPr>
            <a:lvl3pPr>
              <a:defRPr sz="1125" b="0">
                <a:solidFill>
                  <a:srgbClr val="DCE7D3"/>
                </a:solidFill>
                <a:latin typeface="Arial"/>
                <a:ea typeface="Arial"/>
                <a:cs typeface="Arial"/>
              </a:defRPr>
            </a:lvl3pPr>
            <a:lvl4pPr>
              <a:defRPr sz="1125" b="0">
                <a:solidFill>
                  <a:srgbClr val="DCE7D3"/>
                </a:solidFill>
                <a:latin typeface="Arial"/>
                <a:ea typeface="Arial"/>
                <a:cs typeface="Arial"/>
              </a:defRPr>
            </a:lvl4pPr>
            <a:lvl5pPr>
              <a:defRPr sz="1125" b="0">
                <a:solidFill>
                  <a:srgbClr val="DCE7D3"/>
                </a:solidFill>
                <a:latin typeface="Arial"/>
                <a:ea typeface="Arial"/>
                <a:cs typeface="Arial"/>
              </a:defRPr>
            </a:lvl5pPr>
            <a:lvl6pPr>
              <a:defRPr sz="1125" b="0">
                <a:solidFill>
                  <a:srgbClr val="DCE7D3"/>
                </a:solidFill>
                <a:latin typeface="Arial"/>
                <a:ea typeface="Arial"/>
                <a:cs typeface="Arial"/>
              </a:defRPr>
            </a:lvl6pPr>
            <a:lvl7pPr>
              <a:defRPr sz="1125" b="0">
                <a:solidFill>
                  <a:srgbClr val="DCE7D3"/>
                </a:solidFill>
                <a:latin typeface="Arial"/>
                <a:ea typeface="Arial"/>
                <a:cs typeface="Arial"/>
              </a:defRPr>
            </a:lvl7pPr>
            <a:lvl8pPr>
              <a:defRPr sz="1125" b="0">
                <a:solidFill>
                  <a:srgbClr val="DCE7D3"/>
                </a:solidFill>
                <a:latin typeface="Arial"/>
                <a:ea typeface="Arial"/>
                <a:cs typeface="Arial"/>
              </a:defRPr>
            </a:lvl8pPr>
            <a:lvl9pPr>
              <a:defRPr sz="1125" b="0">
                <a:solidFill>
                  <a:srgbClr val="DCE7D3"/>
                </a:solidFill>
                <a:latin typeface="Arial"/>
                <a:ea typeface="Arial"/>
                <a:cs typeface="Arial"/>
              </a:defRPr>
            </a:lvl9pPr>
          </a:lstStyle>
          <a:p xmlns:a="http://schemas.openxmlformats.org/drawingml/2006/main">
            <a:pPr>
              <a:defRPr sz="1125" b="0">
                <a:solidFill>
                  <a:srgbClr val="DCE7D3"/>
                </a:solidFill>
                <a:latin typeface="Arial"/>
                <a:ea typeface="Arial"/>
                <a:cs typeface="Arial"/>
              </a:defRPr>
            </a:pPr>
            <a:r>
              <a:rPr sz="1125" b="0">
                <a:solidFill>
                  <a:srgbClr val="DCE7D3"/>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F4CEEBF6-0419-42EA-AC3D-25E178CCC60B}"/>
              </a:ext>
            </a:extLst>
          </p:cNvPr>
          <p:cNvSpPr>
            <a:spLocks xmlns:a="http://schemas.openxmlformats.org/drawingml/2006/main" noGrp="1"/>
          </p:cNvSpPr>
          <p:nvPr/>
        </p:nvSpPr>
        <p:spPr>
          <a:xfrm xmlns:a="http://schemas.openxmlformats.org/drawingml/2006/main">
            <a:off x="609600" y="20002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650" b="1">
                <a:solidFill>
                  <a:srgbClr val="F8F8F2"/>
                </a:solidFill>
                <a:latin typeface="Arial"/>
                <a:ea typeface="Arial"/>
                <a:cs typeface="Arial"/>
              </a:defRPr>
            </a:defPPr>
            <a:lvl1pPr>
              <a:defRPr sz="4650" b="1">
                <a:solidFill>
                  <a:srgbClr val="F8F8F2"/>
                </a:solidFill>
                <a:latin typeface="Arial"/>
                <a:ea typeface="Arial"/>
                <a:cs typeface="Arial"/>
              </a:defRPr>
            </a:lvl1pPr>
            <a:lvl2pPr>
              <a:defRPr sz="4650" b="1">
                <a:solidFill>
                  <a:srgbClr val="F8F8F2"/>
                </a:solidFill>
                <a:latin typeface="Arial"/>
                <a:ea typeface="Arial"/>
                <a:cs typeface="Arial"/>
              </a:defRPr>
            </a:lvl2pPr>
            <a:lvl3pPr>
              <a:defRPr sz="4650" b="1">
                <a:solidFill>
                  <a:srgbClr val="F8F8F2"/>
                </a:solidFill>
                <a:latin typeface="Arial"/>
                <a:ea typeface="Arial"/>
                <a:cs typeface="Arial"/>
              </a:defRPr>
            </a:lvl3pPr>
            <a:lvl4pPr>
              <a:defRPr sz="4650" b="1">
                <a:solidFill>
                  <a:srgbClr val="F8F8F2"/>
                </a:solidFill>
                <a:latin typeface="Arial"/>
                <a:ea typeface="Arial"/>
                <a:cs typeface="Arial"/>
              </a:defRPr>
            </a:lvl4pPr>
            <a:lvl5pPr>
              <a:defRPr sz="4650" b="1">
                <a:solidFill>
                  <a:srgbClr val="F8F8F2"/>
                </a:solidFill>
                <a:latin typeface="Arial"/>
                <a:ea typeface="Arial"/>
                <a:cs typeface="Arial"/>
              </a:defRPr>
            </a:lvl5pPr>
            <a:lvl6pPr>
              <a:defRPr sz="4650" b="1">
                <a:solidFill>
                  <a:srgbClr val="F8F8F2"/>
                </a:solidFill>
                <a:latin typeface="Arial"/>
                <a:ea typeface="Arial"/>
                <a:cs typeface="Arial"/>
              </a:defRPr>
            </a:lvl6pPr>
            <a:lvl7pPr>
              <a:defRPr sz="4650" b="1">
                <a:solidFill>
                  <a:srgbClr val="F8F8F2"/>
                </a:solidFill>
                <a:latin typeface="Arial"/>
                <a:ea typeface="Arial"/>
                <a:cs typeface="Arial"/>
              </a:defRPr>
            </a:lvl7pPr>
            <a:lvl8pPr>
              <a:defRPr sz="4650" b="1">
                <a:solidFill>
                  <a:srgbClr val="F8F8F2"/>
                </a:solidFill>
                <a:latin typeface="Arial"/>
                <a:ea typeface="Arial"/>
                <a:cs typeface="Arial"/>
              </a:defRPr>
            </a:lvl8pPr>
            <a:lvl9pPr>
              <a:defRPr sz="4650" b="1">
                <a:solidFill>
                  <a:srgbClr val="F8F8F2"/>
                </a:solidFill>
                <a:latin typeface="Arial"/>
                <a:ea typeface="Arial"/>
                <a:cs typeface="Arial"/>
              </a:defRPr>
            </a:lvl9pPr>
          </a:lstStyle>
          <a:p xmlns:a="http://schemas.openxmlformats.org/drawingml/2006/main">
            <a:pPr>
              <a:defRPr sz="4650" b="1">
                <a:solidFill>
                  <a:srgbClr val="F8F8F2"/>
                </a:solidFill>
                <a:latin typeface="Arial"/>
                <a:ea typeface="Arial"/>
                <a:cs typeface="Arial"/>
              </a:defRPr>
            </a:pPr>
            <a:r>
              <a:rPr sz="4650" b="1">
                <a:solidFill>
                  <a:srgbClr val="F8F8F2"/>
                </a:solidFill>
                <a:latin typeface="Arial"/>
                <a:ea typeface="Arial"/>
                <a:cs typeface="Arial"/>
              </a:rPr>
              <a:t>2 schools. 40 students.</a:t>
            </a:r>
          </a:p>
          <a:p xmlns:a="http://schemas.openxmlformats.org/drawingml/2006/main">
            <a:pPr>
              <a:defRPr sz="4650" b="1">
                <a:solidFill>
                  <a:srgbClr val="F8F8F2"/>
                </a:solidFill>
                <a:latin typeface="Arial"/>
                <a:ea typeface="Arial"/>
                <a:cs typeface="Arial"/>
              </a:defRPr>
            </a:pPr>
            <a:r>
              <a:rPr sz="4650" b="1">
                <a:solidFill>
                  <a:srgbClr val="F8F8F2"/>
                </a:solidFill>
                <a:latin typeface="Arial"/>
                <a:ea typeface="Arial"/>
                <a:cs typeface="Arial"/>
              </a:rPr>
              <a:t>One useful next experiment.</a:t>
            </a:r>
          </a:p>
        </p:txBody>
      </p:sp>
      <p:sp>
        <p:nvSpPr>
          <p:cNvPr id="5" name="">
            <a:extLst xmlns:a="http://schemas.openxmlformats.org/drawingml/2006/main">
              <a:ext uri="{FF2B5EF4-FFF2-40B4-BE49-F238E27FC236}">
                <a16:creationId xmlns:a16="http://schemas.microsoft.com/office/drawing/2014/main" id="{94FEAE8D-653C-4C16-8C82-528B947BE79F}"/>
              </a:ext>
            </a:extLst>
          </p:cNvPr>
          <p:cNvSpPr>
            <a:spLocks xmlns:a="http://schemas.openxmlformats.org/drawingml/2006/main" noGrp="1"/>
          </p:cNvSpPr>
          <p:nvPr/>
        </p:nvSpPr>
        <p:spPr>
          <a:xfrm xmlns:a="http://schemas.openxmlformats.org/drawingml/2006/main">
            <a:off x="609600" y="41910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DCE7D3"/>
                </a:solidFill>
                <a:latin typeface="Arial"/>
                <a:ea typeface="Arial"/>
                <a:cs typeface="Arial"/>
              </a:defRPr>
            </a:defPPr>
            <a:lvl1pPr>
              <a:defRPr sz="2250" b="0">
                <a:solidFill>
                  <a:srgbClr val="DCE7D3"/>
                </a:solidFill>
                <a:latin typeface="Arial"/>
                <a:ea typeface="Arial"/>
                <a:cs typeface="Arial"/>
              </a:defRPr>
            </a:lvl1pPr>
            <a:lvl2pPr>
              <a:defRPr sz="2250" b="0">
                <a:solidFill>
                  <a:srgbClr val="DCE7D3"/>
                </a:solidFill>
                <a:latin typeface="Arial"/>
                <a:ea typeface="Arial"/>
                <a:cs typeface="Arial"/>
              </a:defRPr>
            </a:lvl2pPr>
            <a:lvl3pPr>
              <a:defRPr sz="2250" b="0">
                <a:solidFill>
                  <a:srgbClr val="DCE7D3"/>
                </a:solidFill>
                <a:latin typeface="Arial"/>
                <a:ea typeface="Arial"/>
                <a:cs typeface="Arial"/>
              </a:defRPr>
            </a:lvl3pPr>
            <a:lvl4pPr>
              <a:defRPr sz="2250" b="0">
                <a:solidFill>
                  <a:srgbClr val="DCE7D3"/>
                </a:solidFill>
                <a:latin typeface="Arial"/>
                <a:ea typeface="Arial"/>
                <a:cs typeface="Arial"/>
              </a:defRPr>
            </a:lvl4pPr>
            <a:lvl5pPr>
              <a:defRPr sz="2250" b="0">
                <a:solidFill>
                  <a:srgbClr val="DCE7D3"/>
                </a:solidFill>
                <a:latin typeface="Arial"/>
                <a:ea typeface="Arial"/>
                <a:cs typeface="Arial"/>
              </a:defRPr>
            </a:lvl5pPr>
            <a:lvl6pPr>
              <a:defRPr sz="2250" b="0">
                <a:solidFill>
                  <a:srgbClr val="DCE7D3"/>
                </a:solidFill>
                <a:latin typeface="Arial"/>
                <a:ea typeface="Arial"/>
                <a:cs typeface="Arial"/>
              </a:defRPr>
            </a:lvl6pPr>
            <a:lvl7pPr>
              <a:defRPr sz="2250" b="0">
                <a:solidFill>
                  <a:srgbClr val="DCE7D3"/>
                </a:solidFill>
                <a:latin typeface="Arial"/>
                <a:ea typeface="Arial"/>
                <a:cs typeface="Arial"/>
              </a:defRPr>
            </a:lvl7pPr>
            <a:lvl8pPr>
              <a:defRPr sz="2250" b="0">
                <a:solidFill>
                  <a:srgbClr val="DCE7D3"/>
                </a:solidFill>
                <a:latin typeface="Arial"/>
                <a:ea typeface="Arial"/>
                <a:cs typeface="Arial"/>
              </a:defRPr>
            </a:lvl8pPr>
            <a:lvl9pPr>
              <a:defRPr sz="2250" b="0">
                <a:solidFill>
                  <a:srgbClr val="DCE7D3"/>
                </a:solidFill>
                <a:latin typeface="Arial"/>
                <a:ea typeface="Arial"/>
                <a:cs typeface="Arial"/>
              </a:defRPr>
            </a:lvl9pPr>
          </a:lstStyle>
          <a:p xmlns:a="http://schemas.openxmlformats.org/drawingml/2006/main">
            <a:pPr>
              <a:defRPr sz="2250" b="0">
                <a:solidFill>
                  <a:srgbClr val="DCE7D3"/>
                </a:solidFill>
                <a:latin typeface="Arial"/>
                <a:ea typeface="Arial"/>
                <a:cs typeface="Arial"/>
              </a:defRPr>
            </a:pPr>
            <a:r>
              <a:rPr sz="2250" b="0">
                <a:solidFill>
                  <a:srgbClr val="DCE7D3"/>
                </a:solidFill>
                <a:latin typeface="Arial"/>
                <a:ea typeface="Arial"/>
                <a:cs typeface="Arial"/>
              </a:rPr>
              <a:t>Proposed pilot: supervised sessions, an educator review,</a:t>
            </a:r>
          </a:p>
          <a:p xmlns:a="http://schemas.openxmlformats.org/drawingml/2006/main">
            <a:pPr>
              <a:defRPr sz="2250" b="0">
                <a:solidFill>
                  <a:srgbClr val="DCE7D3"/>
                </a:solidFill>
                <a:latin typeface="Arial"/>
                <a:ea typeface="Arial"/>
                <a:cs typeface="Arial"/>
              </a:defRPr>
            </a:pPr>
            <a:r>
              <a:rPr sz="2250" b="0">
                <a:solidFill>
                  <a:srgbClr val="DCE7D3"/>
                </a:solidFill>
                <a:latin typeface="Arial"/>
                <a:ea typeface="Arial"/>
                <a:cs typeface="Arial"/>
              </a:rPr>
              <a:t>and one follow-up conversation about what students learned.</a:t>
            </a:r>
          </a:p>
        </p:txBody>
      </p:sp>
      <p:sp>
        <p:nvSpPr>
          <p:cNvPr id="6" name="">
            <a:extLst xmlns:a="http://schemas.openxmlformats.org/drawingml/2006/main">
              <a:ext uri="{FF2B5EF4-FFF2-40B4-BE49-F238E27FC236}">
                <a16:creationId xmlns:a16="http://schemas.microsoft.com/office/drawing/2014/main" id="{A7F92D03-A03A-4FBB-A85D-E52F04ABB34C}"/>
              </a:ext>
            </a:extLst>
          </p:cNvPr>
          <p:cNvSpPr>
            <a:spLocks xmlns:a="http://schemas.openxmlformats.org/drawingml/2006/main" noGrp="1"/>
          </p:cNvSpPr>
          <p:nvPr/>
        </p:nvSpPr>
        <p:spPr>
          <a:xfrm xmlns:a="http://schemas.openxmlformats.org/drawingml/2006/main">
            <a:off x="609600" y="5619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9EB57D"/>
                </a:solidFill>
                <a:latin typeface="Arial"/>
                <a:ea typeface="Arial"/>
                <a:cs typeface="Arial"/>
              </a:defRPr>
            </a:defPPr>
            <a:lvl1pPr>
              <a:defRPr sz="1800" b="0">
                <a:solidFill>
                  <a:srgbClr val="9EB57D"/>
                </a:solidFill>
                <a:latin typeface="Arial"/>
                <a:ea typeface="Arial"/>
                <a:cs typeface="Arial"/>
              </a:defRPr>
            </a:lvl1pPr>
            <a:lvl2pPr>
              <a:defRPr sz="1800" b="0">
                <a:solidFill>
                  <a:srgbClr val="9EB57D"/>
                </a:solidFill>
                <a:latin typeface="Arial"/>
                <a:ea typeface="Arial"/>
                <a:cs typeface="Arial"/>
              </a:defRPr>
            </a:lvl2pPr>
            <a:lvl3pPr>
              <a:defRPr sz="1800" b="0">
                <a:solidFill>
                  <a:srgbClr val="9EB57D"/>
                </a:solidFill>
                <a:latin typeface="Arial"/>
                <a:ea typeface="Arial"/>
                <a:cs typeface="Arial"/>
              </a:defRPr>
            </a:lvl3pPr>
            <a:lvl4pPr>
              <a:defRPr sz="1800" b="0">
                <a:solidFill>
                  <a:srgbClr val="9EB57D"/>
                </a:solidFill>
                <a:latin typeface="Arial"/>
                <a:ea typeface="Arial"/>
                <a:cs typeface="Arial"/>
              </a:defRPr>
            </a:lvl4pPr>
            <a:lvl5pPr>
              <a:defRPr sz="1800" b="0">
                <a:solidFill>
                  <a:srgbClr val="9EB57D"/>
                </a:solidFill>
                <a:latin typeface="Arial"/>
                <a:ea typeface="Arial"/>
                <a:cs typeface="Arial"/>
              </a:defRPr>
            </a:lvl5pPr>
            <a:lvl6pPr>
              <a:defRPr sz="1800" b="0">
                <a:solidFill>
                  <a:srgbClr val="9EB57D"/>
                </a:solidFill>
                <a:latin typeface="Arial"/>
                <a:ea typeface="Arial"/>
                <a:cs typeface="Arial"/>
              </a:defRPr>
            </a:lvl6pPr>
            <a:lvl7pPr>
              <a:defRPr sz="1800" b="0">
                <a:solidFill>
                  <a:srgbClr val="9EB57D"/>
                </a:solidFill>
                <a:latin typeface="Arial"/>
                <a:ea typeface="Arial"/>
                <a:cs typeface="Arial"/>
              </a:defRPr>
            </a:lvl7pPr>
            <a:lvl8pPr>
              <a:defRPr sz="1800" b="0">
                <a:solidFill>
                  <a:srgbClr val="9EB57D"/>
                </a:solidFill>
                <a:latin typeface="Arial"/>
                <a:ea typeface="Arial"/>
                <a:cs typeface="Arial"/>
              </a:defRPr>
            </a:lvl8pPr>
            <a:lvl9pPr>
              <a:defRPr sz="1800" b="0">
                <a:solidFill>
                  <a:srgbClr val="9EB57D"/>
                </a:solidFill>
                <a:latin typeface="Arial"/>
                <a:ea typeface="Arial"/>
                <a:cs typeface="Arial"/>
              </a:defRPr>
            </a:lvl9pPr>
          </a:lstStyle>
          <a:p xmlns:a="http://schemas.openxmlformats.org/drawingml/2006/main">
            <a:pPr>
              <a:defRPr sz="1800" b="0">
                <a:solidFill>
                  <a:srgbClr val="9EB57D"/>
                </a:solidFill>
                <a:latin typeface="Arial"/>
                <a:ea typeface="Arial"/>
                <a:cs typeface="Arial"/>
              </a:defRPr>
            </a:pPr>
            <a:r>
              <a:rPr sz="1800" b="0">
                <a:solidFill>
                  <a:srgbClr val="9EB57D"/>
                </a:solidFill>
                <a:latin typeface="Arial"/>
                <a:ea typeface="Arial"/>
                <a:cs typeface="Arial"/>
              </a:rPr>
              <a:t>Product and source: github.com/dpjegankumar/futurelab</a:t>
            </a:r>
          </a:p>
        </p:txBody>
      </p:sp>
    </p:spTree>
    <p:extLst>
      <p:ext uri="{BB962C8B-B14F-4D97-AF65-F5344CB8AC3E}">
        <p14:creationId xmlns:p14="http://schemas.microsoft.com/office/powerpoint/2010/main" val="922057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2026-10-24T10:12:17.7710000Z</dcterms:created>
  <dcterms:modified xsi:type="dcterms:W3CDTF">2026-10-24T10:12:17.7710000Z</dcterms:modified>
</coreProperties>
</file>